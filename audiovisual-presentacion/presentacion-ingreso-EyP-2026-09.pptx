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81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B9E6D-A3CC-4055-8656-74FF51DB7AF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A6847-100E-4EE2-84D1-DFD100BA9D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4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Presentarme como director del subsistema. Objetivo de la charla: que en media hora sepan qué es el proyecto, qué hicimos estos meses y qué pueden tomar esta misma semana. La foto es el modelo a escala, que vamos a ver en detalle más adelante.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40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Gancho: pasar 1 minuto del video de ITU (botón azul, requiere internet). La ERC la organiza la European Space Foundation junto con AGH (Cracovia). Edición 2026: 4 al 6 de septiembre, 124 equipos de 29 países. La prueba de Mantenimiento es muy nuestra: medir parámetros eléctricos y enchufar conectores con el brazo. Fuente: roverchallenge.eu.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2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Los siete subsistemas del equipo. Nosotros somos la parte eléctrica: batería, distribución, protecciones y control de motores. Con quien más interactuamos es con Locomoción y Chasis: ellos definen masa, ruedas y dónde va cada cosa; nosotros, motores y cableado.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50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(Completar.)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2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Alcance del subsistema. La frontera con Locomoción y Chasis es la más importante: ellos nos pasan masa, geometría y ruedas; nosotros no recalculamos sus números, los usamos o los cuestionamos midiendo.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2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Estas reglas ya se discutieron una vez y no se reabren en cada decisión. La de protoboard y Dupont es la más importante para arrancar: con vibración aparecen fallas intermitentes imposibles de diagnosticar. Los tres escenarios del recuadro oscuro son contra los que se juzga cualquier diseño.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89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lámina más importante de la charla. El rover final todavía no tiene motor elegido: esa es la pregunta que el modelo a escala tiene que responder. Todo lo que se decide sobre el modelo se juzga contra eso.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Idea central del modelo: medir torque en chico y extrapolar. λ sale de la relación de masas (raíz de 5,5/40). El μ se mide igual en el modelo porque no tiene escala. Todo lo eléctrico y térmico (arranque, rizado, EMI, temperatura) no escala: eso se resuelve con el motor real.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86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modelo armado en el taller. Chasis impreso, dirección Ackermann con un servo por rueda, cuatro motorreductores con encoder y una batería de plomo de 12 V. Pesa alrededor de 5,5 kg, y de esa masa sale la escala.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66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camino de la placa: esquemático en KiCad, ruteo con dos vertidos de masa unidos en un solo punto (star grounding), revisión en 3D y placa real. Siguiendo la regla COTS, la placa propia solo hace distribución y control; drivers, regulador y ESP32 son módulos.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64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Recorrido de la energía: batería, protección de polaridad con MOSFET, relé comandado por la seta, sensor de corriente de toda la tracción y los cuatro drivers. El regulador cuelga antes del relé: por eso al apretar la seta se cortan los motores pero el ESP32 y los servos siguen vivos, y seguimos viendo telemetría.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64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Estado real: la placa está soldada y las primeras pruebas dieron bien. Los puntos V1 a V12 salieron del análisis del esquemático: son hipótesis a confirmar midiendo, no fallas. Varios se descartan con una medición de dos minutos. V1: nivel de un PWM durante el arranque. V2: temperatura del MOSFET de polaridad. V3: margen del riel de servos.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46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primera columna no depende de nadie y cuesta entre cero y quince dólares: es donde entran los nuevos. El ensayo de ángulo de deslizamiento es el de mayor valor por esfuerzo: da el coeficiente de fricción real, que hoy bloquea la elección del motor grande.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80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Definir el día de la reunión semanal ahora, antes de terminar la charla. Regla clave: primero la facultad, pero si alguien no llega con una tarea, avisa temprano para reasignarla. El Doc es para tareas de la semana; las decisiones y los datos técnicos quedan en el repo, para no tener dos versiones de la verdad.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8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Asignar según la experiencia de cada uno (preguntar antes: KiCad, soldadura, firmware, potencia). Todas estas tareas son baratas, no dependen de otro subsistema y tienen riesgo bajo para la placa. La de osciloscopio se hace acompañado.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42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Los links son clickeables en modo presentación. AGH Space Systems es el equipo del rover Kalman de la lámina 2.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47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 consultar, no para presentar.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A6847-100E-4EE2-84D1-DFD100BA9D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4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4EAA3-E9D3-43B0-BAFF-1EAFAE2A4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B72A30-36D7-42BD-B7FF-115A12456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ADE0BB-6670-478D-A188-9C8AB4FA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3ED8C-2B60-4CFF-934D-0C627E66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6A3FD5-D37F-498C-B457-D7FE0DCB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BB7D1-D9E0-4EA8-AEFF-E81A63AC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17B9C-430F-4F70-B926-A2C1CBD9D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3A66DA-810B-45A3-82FF-2B23A603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FF2F8-084F-4573-B380-99C59616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9FCE04-67FF-4245-9CDD-E2250EB4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A764-C01C-44DB-97C5-D277EF17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13B8E-4024-44D4-83AA-CD9B4BE4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B169AB-6B8A-463D-AFD8-2C31C01D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07E075-94CF-46EF-A9B7-6E91F1F2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0C1C88-089F-4E01-8A2A-DD8860F2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2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047A3-03C3-473F-8ABC-2E3B7B0F7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72FECF-D711-4361-BD21-4BDE6A99C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B8B3CB-3931-49F2-8D17-791BE3362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DFA8DE-F953-4DC6-B2CC-2FDF90E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6E62A9-7F38-4FD5-BFF1-35F40E10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8BEE98-DF89-4F9D-8F84-1729EE69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2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4641C-F054-46B0-9FC4-ACC0E0E5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C16DE3-4A86-4380-A00C-D65513540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4089D5-E3BE-42C7-B704-A5681B3F3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009283-CB5F-4E10-B783-082A4A9ED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16FB10-5BA7-4430-8B6D-FF78A1073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1F1A46-51E5-4779-A8EC-C5E3196F5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B75399-7B61-46CC-8619-9FE98F15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5AB558-0398-46BC-827A-55B1BCAB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7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54FBA-DB0D-42CC-8308-B609F95B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8FC679-F8CB-485A-9401-371AC18B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732653-92AC-47D9-965E-3E203B9A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C03690-9E03-46EF-A6F3-72B089AF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0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0B4BB8-2949-41E3-8789-3780CF88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62067B-6B87-4C82-B4CA-00636528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713AA-3582-40E6-8864-7A3B1A8E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6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7219D-9657-4869-AEAA-029CE4E9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32E0B9-38FC-4C68-8326-E73F1B8F3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D55420-A8BC-4576-8239-A8D8C1540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0D626D-F2FB-4203-8DD6-438541A8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979A3C-90D7-40FF-8EA2-DCFEA945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9D9138-FCA7-49CD-A8C3-C155CE17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3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6BE19-E8B6-4A24-8DC6-95BFF31F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5C76A6-4753-4366-9E3A-675F513C9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9BB1E8-15DD-4692-9021-E6190D460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0D0509-C793-4280-BC48-CA82B70E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5A63A6-A8D6-4E54-AF32-DAEAAF40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5E8660-17A9-4C25-AD3E-E3F5F9C9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6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ED762-6082-48AC-A807-0B2FC719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651544-F01C-4465-80D1-4C45524CE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144C4-182A-4AF8-A61C-4181A9CD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F924B-43C0-463C-ACEF-E03B73D1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9761A6-EEC5-4993-A46D-14CB0E31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4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0873D0-3B19-4EB3-A636-4F0D64223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8B40FF-5E30-46BA-9DD1-9050826F5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7C917-5D5A-4DDB-949E-927ED50B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10E02-64B9-4B84-8822-8C0486AC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D70272-249D-4AC4-BE90-A611300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0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8649F0-6497-4B18-9116-BBDBF8D2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54A89A-ADC2-4B6F-BE70-EBE696F95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E73889-36BF-42BE-8BB2-068E29F2C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AC457-5DEC-4184-8EEA-AE743BF09E6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7F64C8-6EBE-4089-B9D3-A50BB7922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46E514-5F9C-4F96-9F64-4C57A7BC6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460FB-7BC1-4B2C-9995-AD33E1A77C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6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Zemdp7xJUic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emdp7xJUic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overchallenge.eu/" TargetMode="External"/><Relationship Id="rId4" Type="http://schemas.openxmlformats.org/officeDocument/2006/relationships/hyperlink" Target="https://www.youtube.com/watch?v=k-BzloGMawA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41AABE-D2F1-4185-94F1-87FB95001D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5" t="6000" r="24375" b="12000"/>
          <a:stretch>
            <a:fillRect/>
          </a:stretch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6D1573B-05B7-4EEF-9899-898C103A7274}"/>
              </a:ext>
            </a:extLst>
          </p:cNvPr>
          <p:cNvSpPr/>
          <p:nvPr/>
        </p:nvSpPr>
        <p:spPr>
          <a:xfrm>
            <a:off x="4521200" y="0"/>
            <a:ext cx="3810000" cy="6858000"/>
          </a:xfrm>
          <a:prstGeom prst="rect">
            <a:avLst/>
          </a:prstGeom>
          <a:gradFill flip="none" rotWithShape="1">
            <a:gsLst>
              <a:gs pos="0">
                <a:srgbClr val="0B1F3A"/>
              </a:gs>
              <a:gs pos="100000">
                <a:srgbClr val="0B1F3A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D518AF-04A3-4E4E-B9B5-6550BA503FB5}"/>
              </a:ext>
            </a:extLst>
          </p:cNvPr>
          <p:cNvSpPr txBox="1"/>
          <p:nvPr/>
        </p:nvSpPr>
        <p:spPr>
          <a:xfrm>
            <a:off x="711200" y="19050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1BA9D1"/>
                </a:solidFill>
                <a:latin typeface="Arial" panose="020B0604020202020204" pitchFamily="34" charset="0"/>
              </a:rPr>
              <a:t>IEEE ITBA I+D  ·  EUROPEAN ROVER CHALLENGE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F783DE-84C3-4F5D-A899-55E1CB0F3732}"/>
              </a:ext>
            </a:extLst>
          </p:cNvPr>
          <p:cNvSpPr txBox="1"/>
          <p:nvPr/>
        </p:nvSpPr>
        <p:spPr>
          <a:xfrm>
            <a:off x="711200" y="2235200"/>
            <a:ext cx="546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4000" b="1">
                <a:solidFill>
                  <a:srgbClr val="FFFFFF"/>
                </a:solidFill>
                <a:latin typeface="Arial" panose="020B0604020202020204" pitchFamily="34" charset="0"/>
              </a:rPr>
              <a:t>Electrónica y Sistemas de Potencia</a:t>
            </a:r>
            <a:endParaRPr lang="en-US" sz="4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B1DE6F-B5CD-432E-A982-91D4B20B57E3}"/>
              </a:ext>
            </a:extLst>
          </p:cNvPr>
          <p:cNvSpPr txBox="1"/>
          <p:nvPr/>
        </p:nvSpPr>
        <p:spPr>
          <a:xfrm>
            <a:off x="711200" y="3759199"/>
            <a:ext cx="5080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CADCFC"/>
                </a:solidFill>
                <a:latin typeface="Calibri" panose="020F0502020204030204" pitchFamily="34" charset="0"/>
              </a:rPr>
              <a:t>Presentación de ingreso: qué hicimos y qué viene</a:t>
            </a:r>
            <a:endParaRPr lang="en-US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B6D17B-59DC-469C-9AC7-E5F544042DE2}"/>
              </a:ext>
            </a:extLst>
          </p:cNvPr>
          <p:cNvSpPr txBox="1"/>
          <p:nvPr/>
        </p:nvSpPr>
        <p:spPr>
          <a:xfrm>
            <a:off x="711200" y="5740399"/>
            <a:ext cx="508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s-ES" sz="1400">
                <a:solidFill>
                  <a:srgbClr val="FFFFFF"/>
                </a:solidFill>
                <a:latin typeface="Calibri" panose="020F0502020204030204" pitchFamily="34" charset="0"/>
              </a:rPr>
              <a:t>Matías Bélico · Director del subsistema</a:t>
            </a:r>
          </a:p>
          <a:p>
            <a:pPr>
              <a:spcAft>
                <a:spcPts val="200"/>
              </a:spcAft>
            </a:pPr>
            <a:r>
              <a:rPr lang="es-ES" sz="1400">
                <a:solidFill>
                  <a:srgbClr val="FFFFFF"/>
                </a:solidFill>
                <a:latin typeface="Calibri" panose="020F0502020204030204" pitchFamily="34" charset="0"/>
              </a:rPr>
              <a:t>Septiembre 2026</a:t>
            </a:r>
            <a:endParaRPr lang="en-US" sz="1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78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783A817-CB5C-4D0E-A788-50E4C6B74FFB}"/>
              </a:ext>
            </a:extLst>
          </p:cNvPr>
          <p:cNvSpPr txBox="1"/>
          <p:nvPr/>
        </p:nvSpPr>
        <p:spPr>
          <a:xfrm>
            <a:off x="609600" y="380999"/>
            <a:ext cx="1016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A · CONTEXTO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623F11-1D2F-422B-BF4F-6DF9A8046B75}"/>
              </a:ext>
            </a:extLst>
          </p:cNvPr>
          <p:cNvSpPr txBox="1"/>
          <p:nvPr/>
        </p:nvSpPr>
        <p:spPr>
          <a:xfrm>
            <a:off x="609600" y="634999"/>
            <a:ext cx="1016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La ERC: rovers universitarios en un Marte simulado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2B7682-19A8-463D-B7ED-109B73D50F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72800" y="330200"/>
            <a:ext cx="609600" cy="609600"/>
          </a:xfrm>
          <a:prstGeom prst="roundRect">
            <a:avLst>
              <a:gd name="adj" fmla="val 12000"/>
            </a:avLst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3F2D68-6C0F-4C91-9E8C-6AABB7889101}"/>
              </a:ext>
            </a:extLst>
          </p:cNvPr>
          <p:cNvSpPr txBox="1"/>
          <p:nvPr/>
        </p:nvSpPr>
        <p:spPr>
          <a:xfrm>
            <a:off x="609600" y="1498600"/>
            <a:ext cx="1651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F5FB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A3E3E9-9E66-49C4-9386-46828C408AB2}"/>
              </a:ext>
            </a:extLst>
          </p:cNvPr>
          <p:cNvSpPr txBox="1"/>
          <p:nvPr/>
        </p:nvSpPr>
        <p:spPr>
          <a:xfrm>
            <a:off x="609600" y="2108200"/>
            <a:ext cx="165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A6B80"/>
                </a:solidFill>
                <a:latin typeface="Calibri" panose="020F0502020204030204" pitchFamily="34" charset="0"/>
              </a:rPr>
              <a:t>pruebas en el Marsyard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FAB42A-EAD8-4D00-B797-216D672E3F16}"/>
              </a:ext>
            </a:extLst>
          </p:cNvPr>
          <p:cNvSpPr txBox="1"/>
          <p:nvPr/>
        </p:nvSpPr>
        <p:spPr>
          <a:xfrm>
            <a:off x="2413000" y="1498600"/>
            <a:ext cx="1651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F5FBF"/>
                </a:solidFill>
                <a:latin typeface="Arial" panose="020B0604020202020204" pitchFamily="34" charset="0"/>
              </a:rPr>
              <a:t>124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335DF62-88AA-437F-8725-D2AEEF558D3C}"/>
              </a:ext>
            </a:extLst>
          </p:cNvPr>
          <p:cNvSpPr txBox="1"/>
          <p:nvPr/>
        </p:nvSpPr>
        <p:spPr>
          <a:xfrm>
            <a:off x="2413000" y="2108200"/>
            <a:ext cx="165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A6B80"/>
                </a:solidFill>
                <a:latin typeface="Calibri" panose="020F0502020204030204" pitchFamily="34" charset="0"/>
              </a:rPr>
              <a:t>equipos inscriptos en 2026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74F549-ADE4-428E-8CC2-7FAA8EB41B99}"/>
              </a:ext>
            </a:extLst>
          </p:cNvPr>
          <p:cNvSpPr txBox="1"/>
          <p:nvPr/>
        </p:nvSpPr>
        <p:spPr>
          <a:xfrm>
            <a:off x="4216400" y="1498600"/>
            <a:ext cx="1651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F5FBF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35A51D-FDAC-4609-8E21-80A5CCE54147}"/>
              </a:ext>
            </a:extLst>
          </p:cNvPr>
          <p:cNvSpPr txBox="1"/>
          <p:nvPr/>
        </p:nvSpPr>
        <p:spPr>
          <a:xfrm>
            <a:off x="4216400" y="2108200"/>
            <a:ext cx="165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A6B80"/>
                </a:solidFill>
                <a:latin typeface="Calibri" panose="020F0502020204030204" pitchFamily="34" charset="0"/>
              </a:rPr>
              <a:t>países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498D4C-458D-4916-A996-118A8A051374}"/>
              </a:ext>
            </a:extLst>
          </p:cNvPr>
          <p:cNvSpPr txBox="1"/>
          <p:nvPr/>
        </p:nvSpPr>
        <p:spPr>
          <a:xfrm>
            <a:off x="609600" y="26924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7212F"/>
                </a:solidFill>
                <a:latin typeface="Calibri" panose="020F0502020204030204" pitchFamily="34" charset="0"/>
              </a:rPr>
              <a:t>Las pruebas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8F25D9D-A674-4A08-A5BA-4E5BEC9FF249}"/>
              </a:ext>
            </a:extLst>
          </p:cNvPr>
          <p:cNvSpPr txBox="1"/>
          <p:nvPr/>
        </p:nvSpPr>
        <p:spPr>
          <a:xfrm>
            <a:off x="609600" y="2997199"/>
            <a:ext cx="53340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s-ES" sz="1300" b="1">
                <a:solidFill>
                  <a:srgbClr val="17212F"/>
                </a:solidFill>
                <a:latin typeface="Calibri" panose="020F0502020204030204" pitchFamily="34" charset="0"/>
              </a:rPr>
              <a:t>Presentación</a:t>
            </a:r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 — el equipo defiende su diseño ante jueces</a:t>
            </a:r>
          </a:p>
          <a:p>
            <a:pPr>
              <a:spcAft>
                <a:spcPts val="600"/>
              </a:spcAft>
            </a:pPr>
            <a:r>
              <a:rPr lang="es-ES" sz="1300" b="1">
                <a:solidFill>
                  <a:srgbClr val="17212F"/>
                </a:solidFill>
                <a:latin typeface="Calibri" panose="020F0502020204030204" pitchFamily="34" charset="0"/>
              </a:rPr>
              <a:t>Sondeo</a:t>
            </a:r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 — encontrar tres sondas y guardarlas a bordo</a:t>
            </a:r>
          </a:p>
          <a:p>
            <a:pPr>
              <a:spcAft>
                <a:spcPts val="600"/>
              </a:spcAft>
            </a:pPr>
            <a:r>
              <a:rPr lang="es-ES" sz="1300" b="1">
                <a:solidFill>
                  <a:srgbClr val="17212F"/>
                </a:solidFill>
                <a:latin typeface="Calibri" panose="020F0502020204030204" pitchFamily="34" charset="0"/>
              </a:rPr>
              <a:t>Mantenimiento</a:t>
            </a:r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 — operar llaves, medir parámetros eléctricos, enchufar conectores</a:t>
            </a:r>
          </a:p>
          <a:p>
            <a:pPr>
              <a:spcAft>
                <a:spcPts val="600"/>
              </a:spcAft>
            </a:pPr>
            <a:r>
              <a:rPr lang="es-ES" sz="1300" b="1">
                <a:solidFill>
                  <a:srgbClr val="17212F"/>
                </a:solidFill>
                <a:latin typeface="Calibri" panose="020F0502020204030204" pitchFamily="34" charset="0"/>
              </a:rPr>
              <a:t>Navegación</a:t>
            </a:r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 — recorrido por puntos GNSS y vuelo de un dron</a:t>
            </a:r>
          </a:p>
          <a:p>
            <a:pPr>
              <a:spcAft>
                <a:spcPts val="600"/>
              </a:spcAft>
            </a:pPr>
            <a:r>
              <a:rPr lang="es-ES" sz="1300" b="1">
                <a:solidFill>
                  <a:srgbClr val="17212F"/>
                </a:solidFill>
                <a:latin typeface="Calibri" panose="020F0502020204030204" pitchFamily="34" charset="0"/>
              </a:rPr>
              <a:t>Ciencia</a:t>
            </a:r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 — hipótesis, muestreo de superficie y perforación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6B92BDF-CE43-4CFC-8691-5D2A41932B7C}"/>
              </a:ext>
            </a:extLst>
          </p:cNvPr>
          <p:cNvSpPr/>
          <p:nvPr/>
        </p:nvSpPr>
        <p:spPr>
          <a:xfrm>
            <a:off x="609600" y="5588000"/>
            <a:ext cx="5334000" cy="558800"/>
          </a:xfrm>
          <a:prstGeom prst="roundRect">
            <a:avLst>
              <a:gd name="adj" fmla="val 20000"/>
            </a:avLst>
          </a:prstGeom>
          <a:solidFill>
            <a:srgbClr val="FFE2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s-AR" sz="1600" b="1" dirty="0">
                <a:solidFill>
                  <a:srgbClr val="17212F"/>
                </a:solidFill>
                <a:latin typeface="Calibri" panose="020F0502020204030204" pitchFamily="34" charset="0"/>
              </a:rPr>
              <a:t>Apuntamos a competir en la edición 2027</a:t>
            </a:r>
            <a:endParaRPr lang="en-US" sz="1600" b="1" dirty="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4A7D9F0-0FB8-4EC0-B2A7-7B17765D239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 r="25"/>
          <a:stretch>
            <a:fillRect/>
          </a:stretch>
        </p:blipFill>
        <p:spPr>
          <a:xfrm>
            <a:off x="6350000" y="1498600"/>
            <a:ext cx="5232400" cy="3492500"/>
          </a:xfrm>
          <a:prstGeom prst="roundRect">
            <a:avLst>
              <a:gd name="adj" fmla="val 4000"/>
            </a:avLst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52466D6-8C6E-48E2-A838-91A3C1EF1807}"/>
              </a:ext>
            </a:extLst>
          </p:cNvPr>
          <p:cNvSpPr txBox="1"/>
          <p:nvPr/>
        </p:nvSpPr>
        <p:spPr>
          <a:xfrm>
            <a:off x="6350000" y="5079999"/>
            <a:ext cx="5232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i="1">
                <a:solidFill>
                  <a:srgbClr val="5A6B80"/>
                </a:solidFill>
                <a:latin typeface="Calibri" panose="020F0502020204030204" pitchFamily="34" charset="0"/>
              </a:rPr>
              <a:t>Kalman, de AGH Space Systems (Polonia), compite en la ERC desde 2018</a:t>
            </a:r>
          </a:p>
        </p:txBody>
      </p:sp>
      <p:sp>
        <p:nvSpPr>
          <p:cNvPr id="18" name="Rectángulo: esquinas redondeadas 17">
            <a:hlinkClick r:id="rId5"/>
            <a:extLst>
              <a:ext uri="{FF2B5EF4-FFF2-40B4-BE49-F238E27FC236}">
                <a16:creationId xmlns:a16="http://schemas.microsoft.com/office/drawing/2014/main" id="{96742E09-18A7-464E-AEA2-501661F96F95}"/>
              </a:ext>
            </a:extLst>
          </p:cNvPr>
          <p:cNvSpPr/>
          <p:nvPr/>
        </p:nvSpPr>
        <p:spPr>
          <a:xfrm>
            <a:off x="6350000" y="5588000"/>
            <a:ext cx="5232400" cy="558800"/>
          </a:xfrm>
          <a:prstGeom prst="roundRect">
            <a:avLst>
              <a:gd name="adj" fmla="val 20000"/>
            </a:avLst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Calibri" panose="020F0502020204030204" pitchFamily="34" charset="0"/>
              </a:rPr>
              <a:t>      Ver 1 minuto: ITU Rover Team, ERC 2024</a:t>
            </a:r>
            <a:endParaRPr lang="en-US" sz="1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ángulo isósceles 18">
            <a:hlinkClick r:id="rId5"/>
            <a:extLst>
              <a:ext uri="{FF2B5EF4-FFF2-40B4-BE49-F238E27FC236}">
                <a16:creationId xmlns:a16="http://schemas.microsoft.com/office/drawing/2014/main" id="{9E26EC7B-FC49-4850-A756-732C2C0354A2}"/>
              </a:ext>
            </a:extLst>
          </p:cNvPr>
          <p:cNvSpPr/>
          <p:nvPr/>
        </p:nvSpPr>
        <p:spPr>
          <a:xfrm rot="5400000">
            <a:off x="7239000" y="5778500"/>
            <a:ext cx="177800" cy="177800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D27DF4E-8113-4639-8F5C-A6FE56272316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10135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1BC4CD2-0A5F-470D-B368-0B08336F23A3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A · CONTEXTO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C9CA53-54B7-4618-A548-CA0A5F7F1C95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Siete subsistemas, y la energía pasa por nosotros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D30D40-C0F9-4FB3-ABBE-97CBEEC5A837}"/>
              </a:ext>
            </a:extLst>
          </p:cNvPr>
          <p:cNvSpPr txBox="1"/>
          <p:nvPr/>
        </p:nvSpPr>
        <p:spPr>
          <a:xfrm>
            <a:off x="609600" y="12192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400">
                <a:solidFill>
                  <a:srgbClr val="5A6B80"/>
                </a:solidFill>
                <a:latin typeface="Calibri" panose="020F0502020204030204" pitchFamily="34" charset="0"/>
              </a:rPr>
              <a:t>Energía, protecciones y control de motores para todo lo que va montado en el rover.</a:t>
            </a:r>
            <a:endParaRPr lang="en-US" sz="14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C90C66D-1653-494F-94A8-2EC4545E2ECF}"/>
              </a:ext>
            </a:extLst>
          </p:cNvPr>
          <p:cNvCxnSpPr/>
          <p:nvPr/>
        </p:nvCxnSpPr>
        <p:spPr>
          <a:xfrm>
            <a:off x="4013200" y="2476500"/>
            <a:ext cx="2082800" cy="171450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5FD7E73-FC0C-4817-8F72-A2182700862F}"/>
              </a:ext>
            </a:extLst>
          </p:cNvPr>
          <p:cNvCxnSpPr/>
          <p:nvPr/>
        </p:nvCxnSpPr>
        <p:spPr>
          <a:xfrm flipH="1">
            <a:off x="6096000" y="2476500"/>
            <a:ext cx="2082800" cy="171450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5ACED03-DA63-46C3-A8EC-0A7D9D2F28A0}"/>
              </a:ext>
            </a:extLst>
          </p:cNvPr>
          <p:cNvCxnSpPr/>
          <p:nvPr/>
        </p:nvCxnSpPr>
        <p:spPr>
          <a:xfrm>
            <a:off x="4013200" y="4191000"/>
            <a:ext cx="2082800" cy="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AB8C26C-7F97-4002-9942-E5D2712088D2}"/>
              </a:ext>
            </a:extLst>
          </p:cNvPr>
          <p:cNvCxnSpPr/>
          <p:nvPr/>
        </p:nvCxnSpPr>
        <p:spPr>
          <a:xfrm flipH="1">
            <a:off x="6096000" y="4191000"/>
            <a:ext cx="2082800" cy="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222B026-C8C7-4F65-B469-75F9A44DCD94}"/>
              </a:ext>
            </a:extLst>
          </p:cNvPr>
          <p:cNvCxnSpPr/>
          <p:nvPr/>
        </p:nvCxnSpPr>
        <p:spPr>
          <a:xfrm flipV="1">
            <a:off x="4013200" y="4191000"/>
            <a:ext cx="2082800" cy="171450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9BE5AF4-4914-476A-A523-0CCEE318EA50}"/>
              </a:ext>
            </a:extLst>
          </p:cNvPr>
          <p:cNvCxnSpPr/>
          <p:nvPr/>
        </p:nvCxnSpPr>
        <p:spPr>
          <a:xfrm flipH="1" flipV="1">
            <a:off x="6096000" y="4191000"/>
            <a:ext cx="2082800" cy="1714500"/>
          </a:xfrm>
          <a:prstGeom prst="line">
            <a:avLst/>
          </a:prstGeom>
          <a:ln w="19050">
            <a:solidFill>
              <a:srgbClr val="B8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F7B8CA6-2975-40BD-8B8C-3A29B64A09E2}"/>
              </a:ext>
            </a:extLst>
          </p:cNvPr>
          <p:cNvSpPr/>
          <p:nvPr/>
        </p:nvSpPr>
        <p:spPr>
          <a:xfrm>
            <a:off x="1219200" y="21209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Locomoción y Chasis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62536DA-C78F-4B6F-8B37-98C02BEACE04}"/>
              </a:ext>
            </a:extLst>
          </p:cNvPr>
          <p:cNvSpPr/>
          <p:nvPr/>
        </p:nvSpPr>
        <p:spPr>
          <a:xfrm>
            <a:off x="8178800" y="21209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Software y Autonomía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52DAD14-8C7A-4D1B-9015-19A072A69A31}"/>
              </a:ext>
            </a:extLst>
          </p:cNvPr>
          <p:cNvSpPr/>
          <p:nvPr/>
        </p:nvSpPr>
        <p:spPr>
          <a:xfrm>
            <a:off x="1219200" y="38354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 dirty="0" err="1">
                <a:solidFill>
                  <a:srgbClr val="17212F"/>
                </a:solidFill>
                <a:latin typeface="Calibri" panose="020F0502020204030204" pitchFamily="34" charset="0"/>
              </a:rPr>
              <a:t>Brazo</a:t>
            </a:r>
            <a:r>
              <a:rPr lang="en-US" sz="1500" b="1" dirty="0">
                <a:solidFill>
                  <a:srgbClr val="17212F"/>
                </a:solidFill>
                <a:latin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17212F"/>
                </a:solidFill>
                <a:latin typeface="Calibri" panose="020F0502020204030204" pitchFamily="34" charset="0"/>
              </a:rPr>
              <a:t>Robótico</a:t>
            </a:r>
            <a:r>
              <a:rPr lang="en-US" sz="1500" b="1" dirty="0">
                <a:solidFill>
                  <a:srgbClr val="17212F"/>
                </a:solidFill>
                <a:latin typeface="Calibri" panose="020F0502020204030204" pitchFamily="34" charset="0"/>
              </a:rPr>
              <a:t> y Drilling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BCFEA5E-AABE-405A-9874-C1EFF744FEC4}"/>
              </a:ext>
            </a:extLst>
          </p:cNvPr>
          <p:cNvSpPr/>
          <p:nvPr/>
        </p:nvSpPr>
        <p:spPr>
          <a:xfrm>
            <a:off x="8178800" y="38354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Telecomunicaciones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4B0B00B-E6F3-4706-AD5D-8E98C677C76A}"/>
              </a:ext>
            </a:extLst>
          </p:cNvPr>
          <p:cNvSpPr/>
          <p:nvPr/>
        </p:nvSpPr>
        <p:spPr>
          <a:xfrm>
            <a:off x="1219200" y="55499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Ciencia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ECFAEA2-CBC0-4365-810D-C0924E77D5F5}"/>
              </a:ext>
            </a:extLst>
          </p:cNvPr>
          <p:cNvSpPr/>
          <p:nvPr/>
        </p:nvSpPr>
        <p:spPr>
          <a:xfrm>
            <a:off x="8178800" y="5549900"/>
            <a:ext cx="2794000" cy="711200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Dron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A3EBEB2-4625-4BD1-8CE5-E1191E8C55FF}"/>
              </a:ext>
            </a:extLst>
          </p:cNvPr>
          <p:cNvSpPr/>
          <p:nvPr/>
        </p:nvSpPr>
        <p:spPr>
          <a:xfrm>
            <a:off x="5016500" y="3111500"/>
            <a:ext cx="2159000" cy="2159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rial" panose="020B0604020202020204" pitchFamily="34" charset="0"/>
              </a:rPr>
              <a:t>Electrónica y Sistemas de Potencia</a:t>
            </a:r>
            <a:endParaRPr 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B99F56B-CB85-4F48-A3DD-8722C01F85DD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278427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8C6F77-BC79-4BAC-8E52-41D8A6D11CF0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A · CONTEXTO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36E267-CADE-446D-9C79-4AD097A47F5B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 dirty="0" err="1">
                <a:solidFill>
                  <a:srgbClr val="17212F"/>
                </a:solidFill>
                <a:latin typeface="Arial" panose="020B0604020202020204" pitchFamily="34" charset="0"/>
              </a:rPr>
              <a:t>Novedad</a:t>
            </a:r>
            <a:r>
              <a:rPr lang="en-U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: </a:t>
            </a:r>
            <a:r>
              <a:rPr lang="en-US" sz="3000" b="1" dirty="0" err="1">
                <a:solidFill>
                  <a:srgbClr val="17212F"/>
                </a:solidFill>
                <a:latin typeface="Arial" panose="020B0604020202020204" pitchFamily="34" charset="0"/>
              </a:rPr>
              <a:t>reunión</a:t>
            </a:r>
            <a:r>
              <a:rPr lang="en-U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 con YPF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79C536-FC6B-4342-B3B1-F450866B7F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" b="213"/>
          <a:stretch>
            <a:fillRect/>
          </a:stretch>
        </p:blipFill>
        <p:spPr>
          <a:xfrm>
            <a:off x="609600" y="1625600"/>
            <a:ext cx="2794000" cy="11049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A35915-D23D-4643-AD8A-454A17CBD6FD}"/>
              </a:ext>
            </a:extLst>
          </p:cNvPr>
          <p:cNvSpPr txBox="1"/>
          <p:nvPr/>
        </p:nvSpPr>
        <p:spPr>
          <a:xfrm>
            <a:off x="609600" y="2870200"/>
            <a:ext cx="279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A6B80"/>
                </a:solidFill>
                <a:latin typeface="Calibri" panose="020F0502020204030204" pitchFamily="34" charset="0"/>
              </a:rPr>
              <a:t>Posible sponsor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CBAC7B-3208-4759-9085-C86862B1988B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4 / 18</a:t>
            </a:r>
          </a:p>
        </p:txBody>
      </p:sp>
      <p:pic>
        <p:nvPicPr>
          <p:cNvPr id="1028" name="Picture 4" descr="Icono Vectorial De Dinero, Símbolo De Dinero, Símbolo De ...">
            <a:extLst>
              <a:ext uri="{FF2B5EF4-FFF2-40B4-BE49-F238E27FC236}">
                <a16:creationId xmlns:a16="http://schemas.microsoft.com/office/drawing/2014/main" id="{7672C3C8-DAC6-4F33-A39C-9ABF89174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240" y="3317240"/>
            <a:ext cx="3185160" cy="318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A0D079-7362-41D5-9196-944596A7623B}"/>
              </a:ext>
            </a:extLst>
          </p:cNvPr>
          <p:cNvSpPr txBox="1"/>
          <p:nvPr/>
        </p:nvSpPr>
        <p:spPr>
          <a:xfrm>
            <a:off x="5852160" y="3037840"/>
            <a:ext cx="5181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Presupuesto actual</a:t>
            </a:r>
          </a:p>
        </p:txBody>
      </p:sp>
    </p:spTree>
    <p:extLst>
      <p:ext uri="{BB962C8B-B14F-4D97-AF65-F5344CB8AC3E}">
        <p14:creationId xmlns:p14="http://schemas.microsoft.com/office/powerpoint/2010/main" val="1695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BDA613-0F54-48CD-B42F-72652B2FC7EB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B · QUÉ HACEMOS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B15179-70C8-45B6-B179-67ACEC4521A5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Lo que tiene corriente es nuestro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EF3B2D8-BB9B-412D-99E1-11163E58476A}"/>
              </a:ext>
            </a:extLst>
          </p:cNvPr>
          <p:cNvSpPr/>
          <p:nvPr/>
        </p:nvSpPr>
        <p:spPr>
          <a:xfrm>
            <a:off x="609600" y="15494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061F466-53ED-4F10-AC35-05ECC2AABAB7}"/>
              </a:ext>
            </a:extLst>
          </p:cNvPr>
          <p:cNvSpPr/>
          <p:nvPr/>
        </p:nvSpPr>
        <p:spPr>
          <a:xfrm>
            <a:off x="812800" y="19177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715DDB7-0F75-4F61-9989-7CD0A4DFFBB1}"/>
              </a:ext>
            </a:extLst>
          </p:cNvPr>
          <p:cNvSpPr txBox="1"/>
          <p:nvPr/>
        </p:nvSpPr>
        <p:spPr>
          <a:xfrm>
            <a:off x="1117600" y="17272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Batería y BMS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69576C-557F-48B0-B036-940E2C61710C}"/>
              </a:ext>
            </a:extLst>
          </p:cNvPr>
          <p:cNvSpPr txBox="1"/>
          <p:nvPr/>
        </p:nvSpPr>
        <p:spPr>
          <a:xfrm>
            <a:off x="1117600" y="20193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Qué batería, cómo se carga y cómo se protege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93EF981-97FA-49EB-925A-23E952622E8B}"/>
              </a:ext>
            </a:extLst>
          </p:cNvPr>
          <p:cNvSpPr/>
          <p:nvPr/>
        </p:nvSpPr>
        <p:spPr>
          <a:xfrm>
            <a:off x="4216400" y="15494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9F89934-83D6-4F34-82A2-ED17925124B1}"/>
              </a:ext>
            </a:extLst>
          </p:cNvPr>
          <p:cNvSpPr/>
          <p:nvPr/>
        </p:nvSpPr>
        <p:spPr>
          <a:xfrm>
            <a:off x="4419600" y="19177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08C6C5-CB5F-4F55-903C-0B7FFA25F84B}"/>
              </a:ext>
            </a:extLst>
          </p:cNvPr>
          <p:cNvSpPr txBox="1"/>
          <p:nvPr/>
        </p:nvSpPr>
        <p:spPr>
          <a:xfrm>
            <a:off x="4724400" y="17272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Distribución de potencia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24D4BFD-C6DB-4668-87AD-DA2B7E290455}"/>
              </a:ext>
            </a:extLst>
          </p:cNvPr>
          <p:cNvSpPr txBox="1"/>
          <p:nvPr/>
        </p:nvSpPr>
        <p:spPr>
          <a:xfrm>
            <a:off x="4724400" y="20193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PDB, rieles de tensión y cableado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F11E3A7-6FD9-41D5-9B9B-1620DD47AF5D}"/>
              </a:ext>
            </a:extLst>
          </p:cNvPr>
          <p:cNvSpPr/>
          <p:nvPr/>
        </p:nvSpPr>
        <p:spPr>
          <a:xfrm>
            <a:off x="609600" y="25908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ACBA58-1E53-4E0A-9235-C4912252DA0B}"/>
              </a:ext>
            </a:extLst>
          </p:cNvPr>
          <p:cNvSpPr/>
          <p:nvPr/>
        </p:nvSpPr>
        <p:spPr>
          <a:xfrm>
            <a:off x="812800" y="29591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1ACC5C4-A345-4B08-B5D2-F856CDE83C2C}"/>
              </a:ext>
            </a:extLst>
          </p:cNvPr>
          <p:cNvSpPr txBox="1"/>
          <p:nvPr/>
        </p:nvSpPr>
        <p:spPr>
          <a:xfrm>
            <a:off x="1117600" y="27686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Control de motores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1CCE43-8251-48AD-945E-B5916B1ABFBD}"/>
              </a:ext>
            </a:extLst>
          </p:cNvPr>
          <p:cNvSpPr txBox="1"/>
          <p:nvPr/>
        </p:nvSpPr>
        <p:spPr>
          <a:xfrm>
            <a:off x="1117600" y="30607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Drivers y control de velocidad por rueda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DCAEBA9-7F22-4889-A1C1-C299676B4BCD}"/>
              </a:ext>
            </a:extLst>
          </p:cNvPr>
          <p:cNvSpPr/>
          <p:nvPr/>
        </p:nvSpPr>
        <p:spPr>
          <a:xfrm>
            <a:off x="4216400" y="25908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D575441-47A0-4E19-97CB-6A4CF65E8B76}"/>
              </a:ext>
            </a:extLst>
          </p:cNvPr>
          <p:cNvSpPr/>
          <p:nvPr/>
        </p:nvSpPr>
        <p:spPr>
          <a:xfrm>
            <a:off x="4419600" y="29591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9B5EDA-407B-4FAF-854D-9050C21CDC8D}"/>
              </a:ext>
            </a:extLst>
          </p:cNvPr>
          <p:cNvSpPr txBox="1"/>
          <p:nvPr/>
        </p:nvSpPr>
        <p:spPr>
          <a:xfrm>
            <a:off x="4724400" y="27686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Protecciones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F42398-43D6-4218-886D-19186FFB8BC5}"/>
              </a:ext>
            </a:extLst>
          </p:cNvPr>
          <p:cNvSpPr txBox="1"/>
          <p:nvPr/>
        </p:nvSpPr>
        <p:spPr>
          <a:xfrm>
            <a:off x="4724400" y="30607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A6B80"/>
                </a:solidFill>
                <a:latin typeface="Calibri" panose="020F0502020204030204" pitchFamily="34" charset="0"/>
              </a:rPr>
              <a:t>Fusibles, E-Stop, polaridad inversa, TVS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946132C-7297-4E8A-A808-5FA3DDDDA940}"/>
              </a:ext>
            </a:extLst>
          </p:cNvPr>
          <p:cNvSpPr/>
          <p:nvPr/>
        </p:nvSpPr>
        <p:spPr>
          <a:xfrm>
            <a:off x="609600" y="36322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C9F89C1-CB9E-487F-B2E4-2B82707A4872}"/>
              </a:ext>
            </a:extLst>
          </p:cNvPr>
          <p:cNvSpPr/>
          <p:nvPr/>
        </p:nvSpPr>
        <p:spPr>
          <a:xfrm>
            <a:off x="812800" y="40005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7A11034-4B56-4E87-A7E7-2E6FE7E2323C}"/>
              </a:ext>
            </a:extLst>
          </p:cNvPr>
          <p:cNvSpPr txBox="1"/>
          <p:nvPr/>
        </p:nvSpPr>
        <p:spPr>
          <a:xfrm>
            <a:off x="1117600" y="38100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Sensado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A0852A1-BC4B-45CD-A539-C8A13F71E2F2}"/>
              </a:ext>
            </a:extLst>
          </p:cNvPr>
          <p:cNvSpPr txBox="1"/>
          <p:nvPr/>
        </p:nvSpPr>
        <p:spPr>
          <a:xfrm>
            <a:off x="1117600" y="41021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A6B80"/>
                </a:solidFill>
                <a:latin typeface="Calibri" panose="020F0502020204030204" pitchFamily="34" charset="0"/>
              </a:rPr>
              <a:t>Corriente, tensión, encoders, IMU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B07360EB-08E4-4762-AFD6-75830DEC2FC7}"/>
              </a:ext>
            </a:extLst>
          </p:cNvPr>
          <p:cNvSpPr/>
          <p:nvPr/>
        </p:nvSpPr>
        <p:spPr>
          <a:xfrm>
            <a:off x="4216400" y="36322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E23EFE6-E574-4DB4-B376-C796837B5F3A}"/>
              </a:ext>
            </a:extLst>
          </p:cNvPr>
          <p:cNvSpPr/>
          <p:nvPr/>
        </p:nvSpPr>
        <p:spPr>
          <a:xfrm>
            <a:off x="4419600" y="40005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7011C09-3963-40C3-B14D-7462D80ACAAB}"/>
              </a:ext>
            </a:extLst>
          </p:cNvPr>
          <p:cNvSpPr txBox="1"/>
          <p:nvPr/>
        </p:nvSpPr>
        <p:spPr>
          <a:xfrm>
            <a:off x="4724400" y="38100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Firmware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0229671-24AB-4084-9192-ECB435529EB2}"/>
              </a:ext>
            </a:extLst>
          </p:cNvPr>
          <p:cNvSpPr txBox="1"/>
          <p:nvPr/>
        </p:nvSpPr>
        <p:spPr>
          <a:xfrm>
            <a:off x="4724400" y="41021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ESP32: control y lógica de seguridad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D56A9FD-2275-49B0-8C00-6ABB43E38566}"/>
              </a:ext>
            </a:extLst>
          </p:cNvPr>
          <p:cNvSpPr/>
          <p:nvPr/>
        </p:nvSpPr>
        <p:spPr>
          <a:xfrm>
            <a:off x="609600" y="4673600"/>
            <a:ext cx="3403600" cy="8890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CEC9477-1E36-402D-9487-735E84E33718}"/>
              </a:ext>
            </a:extLst>
          </p:cNvPr>
          <p:cNvSpPr/>
          <p:nvPr/>
        </p:nvSpPr>
        <p:spPr>
          <a:xfrm>
            <a:off x="812800" y="5041900"/>
            <a:ext cx="152400" cy="152400"/>
          </a:xfrm>
          <a:prstGeom prst="ellipse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CB771F9-7BC6-40EE-B83D-126C6958BCAB}"/>
              </a:ext>
            </a:extLst>
          </p:cNvPr>
          <p:cNvSpPr txBox="1"/>
          <p:nvPr/>
        </p:nvSpPr>
        <p:spPr>
          <a:xfrm>
            <a:off x="1117600" y="48514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Telemetría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F04ED48-DA3F-4C80-9D34-77C31D03CA30}"/>
              </a:ext>
            </a:extLst>
          </p:cNvPr>
          <p:cNvSpPr txBox="1"/>
          <p:nvPr/>
        </p:nvSpPr>
        <p:spPr>
          <a:xfrm>
            <a:off x="1117600" y="5143500"/>
            <a:ext cx="274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Qué medimos y cómo lo vemos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5EE465B7-0E07-407F-A5A2-1514EAF599E4}"/>
              </a:ext>
            </a:extLst>
          </p:cNvPr>
          <p:cNvSpPr/>
          <p:nvPr/>
        </p:nvSpPr>
        <p:spPr>
          <a:xfrm>
            <a:off x="8026400" y="1549400"/>
            <a:ext cx="3556000" cy="40132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33908F-50F1-4BA7-9E8B-A3BEF484284F}"/>
              </a:ext>
            </a:extLst>
          </p:cNvPr>
          <p:cNvSpPr txBox="1"/>
          <p:nvPr/>
        </p:nvSpPr>
        <p:spPr>
          <a:xfrm>
            <a:off x="8331200" y="1854200"/>
            <a:ext cx="294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7212F"/>
                </a:solidFill>
                <a:latin typeface="Arial" panose="020B0604020202020204" pitchFamily="34" charset="0"/>
              </a:rPr>
              <a:t>No es nuestro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682FA8F-B609-4D04-A66D-C5E479D6FBBD}"/>
              </a:ext>
            </a:extLst>
          </p:cNvPr>
          <p:cNvSpPr txBox="1"/>
          <p:nvPr/>
        </p:nvSpPr>
        <p:spPr>
          <a:xfrm>
            <a:off x="8331200" y="2336799"/>
            <a:ext cx="29464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ES" sz="1400">
                <a:solidFill>
                  <a:srgbClr val="17212F"/>
                </a:solidFill>
                <a:latin typeface="Calibri" panose="020F0502020204030204" pitchFamily="34" charset="0"/>
              </a:rPr>
              <a:t>Estructura, cinemática y transmisión: eso es de Locomoción y Chasis.</a:t>
            </a:r>
          </a:p>
          <a:p>
            <a:pPr>
              <a:spcAft>
                <a:spcPts val="1000"/>
              </a:spcAft>
            </a:pPr>
            <a:r>
              <a:rPr lang="es-ES" sz="1400">
                <a:solidFill>
                  <a:srgbClr val="17212F"/>
                </a:solidFill>
                <a:latin typeface="Calibri" panose="020F0502020204030204" pitchFamily="34" charset="0"/>
              </a:rPr>
              <a:t>Nos cruzamos en la interfaz: masa, ruedas, motores y dónde va cada placa.</a:t>
            </a:r>
            <a:endParaRPr lang="en-US" sz="14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4848FB6-6D2C-48FB-B4B4-AE28CB0B7033}"/>
              </a:ext>
            </a:extLst>
          </p:cNvPr>
          <p:cNvSpPr txBox="1"/>
          <p:nvPr/>
        </p:nvSpPr>
        <p:spPr>
          <a:xfrm>
            <a:off x="609600" y="58166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i="1">
                <a:solidFill>
                  <a:srgbClr val="1F5FBF"/>
                </a:solidFill>
                <a:latin typeface="Calibri" panose="020F0502020204030204" pitchFamily="34" charset="0"/>
              </a:rPr>
              <a:t>Un número que viene de otro subsistema no se recalcula acá: se usa, o se cuestiona con una medición.</a:t>
            </a:r>
            <a:endParaRPr lang="en-US" sz="1500" i="1">
              <a:solidFill>
                <a:srgbClr val="1F5FBF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75D01B9-5298-4A54-97A2-6F01983F5A8C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285143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6AC075D-90A0-45D5-891E-54ABC5F80CC4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B · QUÉ HACEMOS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86F08C-EAA5-4A99-BAAC-A39EEB1723B5}"/>
              </a:ext>
            </a:extLst>
          </p:cNvPr>
          <p:cNvSpPr txBox="1"/>
          <p:nvPr/>
        </p:nvSpPr>
        <p:spPr>
          <a:xfrm>
            <a:off x="609600" y="65785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Siete reglas a tener en cuenta en cada diseño</a:t>
            </a:r>
            <a:endParaRPr lang="en-US" sz="3000" b="1" dirty="0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7F40AF9-7132-498B-B227-B73BA58DC50B}"/>
              </a:ext>
            </a:extLst>
          </p:cNvPr>
          <p:cNvSpPr/>
          <p:nvPr/>
        </p:nvSpPr>
        <p:spPr>
          <a:xfrm>
            <a:off x="609600" y="1524000"/>
            <a:ext cx="2590800" cy="2159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B039E4B-288C-420A-9ECB-704D09EE6319}"/>
              </a:ext>
            </a:extLst>
          </p:cNvPr>
          <p:cNvSpPr/>
          <p:nvPr/>
        </p:nvSpPr>
        <p:spPr>
          <a:xfrm>
            <a:off x="812800" y="17272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319B42-1DC0-412F-A544-22E4E5B6A43B}"/>
              </a:ext>
            </a:extLst>
          </p:cNvPr>
          <p:cNvSpPr txBox="1"/>
          <p:nvPr/>
        </p:nvSpPr>
        <p:spPr>
          <a:xfrm>
            <a:off x="812800" y="22352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COTS primero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AA0CDC-BC78-4606-96B6-C82EC6BE53CA}"/>
              </a:ext>
            </a:extLst>
          </p:cNvPr>
          <p:cNvSpPr txBox="1"/>
          <p:nvPr/>
        </p:nvSpPr>
        <p:spPr>
          <a:xfrm>
            <a:off x="812800" y="276860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AR" dirty="0">
                <a:solidFill>
                  <a:srgbClr val="5A6B80"/>
                </a:solidFill>
                <a:latin typeface="Calibri" panose="020F0502020204030204" pitchFamily="34" charset="0"/>
              </a:rPr>
              <a:t>Priorizar usar módulos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2ED49EC-CCA1-40FB-9D19-393A1666E638}"/>
              </a:ext>
            </a:extLst>
          </p:cNvPr>
          <p:cNvSpPr/>
          <p:nvPr/>
        </p:nvSpPr>
        <p:spPr>
          <a:xfrm>
            <a:off x="3403600" y="1524000"/>
            <a:ext cx="2590800" cy="2159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12D9949-08BA-416B-B0BD-B6CBCDA0CC9B}"/>
              </a:ext>
            </a:extLst>
          </p:cNvPr>
          <p:cNvSpPr/>
          <p:nvPr/>
        </p:nvSpPr>
        <p:spPr>
          <a:xfrm>
            <a:off x="3606800" y="17272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C9FB21-26C5-4B9C-BCD5-D95128B2A73F}"/>
              </a:ext>
            </a:extLst>
          </p:cNvPr>
          <p:cNvSpPr txBox="1"/>
          <p:nvPr/>
        </p:nvSpPr>
        <p:spPr>
          <a:xfrm>
            <a:off x="3606800" y="22352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Sobredimensionar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95198F-3C58-418C-B71D-91C2D6958881}"/>
              </a:ext>
            </a:extLst>
          </p:cNvPr>
          <p:cNvSpPr txBox="1"/>
          <p:nvPr/>
        </p:nvSpPr>
        <p:spPr>
          <a:xfrm>
            <a:off x="3606800" y="276860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AR" dirty="0">
                <a:solidFill>
                  <a:srgbClr val="5A6B80"/>
                </a:solidFill>
                <a:latin typeface="Calibri" panose="020F0502020204030204" pitchFamily="34" charset="0"/>
              </a:rPr>
              <a:t>Torque, corriente, baterías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926E415-D5EC-4950-A246-764C60F122DF}"/>
              </a:ext>
            </a:extLst>
          </p:cNvPr>
          <p:cNvSpPr/>
          <p:nvPr/>
        </p:nvSpPr>
        <p:spPr>
          <a:xfrm>
            <a:off x="6197600" y="1524000"/>
            <a:ext cx="2590800" cy="2159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6EB99FC-8025-4607-9E7E-7830BA2424E0}"/>
              </a:ext>
            </a:extLst>
          </p:cNvPr>
          <p:cNvSpPr/>
          <p:nvPr/>
        </p:nvSpPr>
        <p:spPr>
          <a:xfrm>
            <a:off x="6400800" y="17272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EBB3CBF-CBE5-43D4-9AC2-D2D20A518E3D}"/>
              </a:ext>
            </a:extLst>
          </p:cNvPr>
          <p:cNvSpPr txBox="1"/>
          <p:nvPr/>
        </p:nvSpPr>
        <p:spPr>
          <a:xfrm>
            <a:off x="6400800" y="22352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Star grounding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CF0BBCD-F10E-463F-8584-ABD94031377F}"/>
              </a:ext>
            </a:extLst>
          </p:cNvPr>
          <p:cNvSpPr txBox="1"/>
          <p:nvPr/>
        </p:nvSpPr>
        <p:spPr>
          <a:xfrm>
            <a:off x="6400800" y="263144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AR" dirty="0">
                <a:solidFill>
                  <a:srgbClr val="5A6B80"/>
                </a:solidFill>
                <a:latin typeface="Calibri" panose="020F0502020204030204" pitchFamily="34" charset="0"/>
              </a:rPr>
              <a:t>Trabajar potencia y lógica por separado en la placa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D5B0C9D-59EB-4FCD-9637-3A6C94918CAD}"/>
              </a:ext>
            </a:extLst>
          </p:cNvPr>
          <p:cNvSpPr/>
          <p:nvPr/>
        </p:nvSpPr>
        <p:spPr>
          <a:xfrm>
            <a:off x="8991600" y="1524000"/>
            <a:ext cx="2590800" cy="2159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9675D1D-15A3-432D-9F19-21CF127A4A03}"/>
              </a:ext>
            </a:extLst>
          </p:cNvPr>
          <p:cNvSpPr/>
          <p:nvPr/>
        </p:nvSpPr>
        <p:spPr>
          <a:xfrm>
            <a:off x="9194800" y="17272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2D300C9-530D-4E4C-8C73-0753C1C70137}"/>
              </a:ext>
            </a:extLst>
          </p:cNvPr>
          <p:cNvSpPr txBox="1"/>
          <p:nvPr/>
        </p:nvSpPr>
        <p:spPr>
          <a:xfrm>
            <a:off x="9194800" y="22352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Cable de silicona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22CAF0-AEAF-4F5A-9445-D7A189EE9B43}"/>
              </a:ext>
            </a:extLst>
          </p:cNvPr>
          <p:cNvSpPr txBox="1"/>
          <p:nvPr/>
        </p:nvSpPr>
        <p:spPr>
          <a:xfrm>
            <a:off x="9194800" y="263144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dirty="0">
                <a:solidFill>
                  <a:srgbClr val="5A6B80"/>
                </a:solidFill>
                <a:latin typeface="Calibri" panose="020F0502020204030204" pitchFamily="34" charset="0"/>
              </a:rPr>
              <a:t>En toda la potencia, con calibre AWG.</a:t>
            </a:r>
            <a:endParaRPr lang="en-US" sz="12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E3E1F2E-4D0B-4D14-BEB4-9649A9120E94}"/>
              </a:ext>
            </a:extLst>
          </p:cNvPr>
          <p:cNvSpPr/>
          <p:nvPr/>
        </p:nvSpPr>
        <p:spPr>
          <a:xfrm>
            <a:off x="609600" y="3886199"/>
            <a:ext cx="2590800" cy="2313941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FAB72F8-163D-4943-9E09-0AF4C815FE21}"/>
              </a:ext>
            </a:extLst>
          </p:cNvPr>
          <p:cNvSpPr/>
          <p:nvPr/>
        </p:nvSpPr>
        <p:spPr>
          <a:xfrm>
            <a:off x="812800" y="40894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47F4BB-87D7-43D3-A0C3-8556893C3FF7}"/>
              </a:ext>
            </a:extLst>
          </p:cNvPr>
          <p:cNvSpPr txBox="1"/>
          <p:nvPr/>
        </p:nvSpPr>
        <p:spPr>
          <a:xfrm>
            <a:off x="812800" y="4597399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17212F"/>
                </a:solidFill>
                <a:latin typeface="Calibri" panose="020F0502020204030204" pitchFamily="34" charset="0"/>
              </a:rPr>
              <a:t>Nada de protoboard ni Dupont</a:t>
            </a:r>
            <a:endParaRPr lang="en-US" sz="15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1E4EA9-3927-48C6-9733-3267086B2A0D}"/>
              </a:ext>
            </a:extLst>
          </p:cNvPr>
          <p:cNvSpPr txBox="1"/>
          <p:nvPr/>
        </p:nvSpPr>
        <p:spPr>
          <a:xfrm>
            <a:off x="812800" y="513080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Con vibración fallan de forma intermitente. Siempre conectores con traba.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E74AA18-9249-4A56-A16A-6562EECD656F}"/>
              </a:ext>
            </a:extLst>
          </p:cNvPr>
          <p:cNvSpPr/>
          <p:nvPr/>
        </p:nvSpPr>
        <p:spPr>
          <a:xfrm>
            <a:off x="3403600" y="3886200"/>
            <a:ext cx="2590800" cy="23139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8D46D3B-7DA3-4F47-95D4-3B29D42526CE}"/>
              </a:ext>
            </a:extLst>
          </p:cNvPr>
          <p:cNvSpPr/>
          <p:nvPr/>
        </p:nvSpPr>
        <p:spPr>
          <a:xfrm>
            <a:off x="3606800" y="40894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37BBFC1-B800-4331-A9EE-EDF8FEECD9B4}"/>
              </a:ext>
            </a:extLst>
          </p:cNvPr>
          <p:cNvSpPr txBox="1"/>
          <p:nvPr/>
        </p:nvSpPr>
        <p:spPr>
          <a:xfrm>
            <a:off x="3606800" y="45974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E-Stop y fusibles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2E78EAC-5975-4F9A-B8C9-D77140061221}"/>
              </a:ext>
            </a:extLst>
          </p:cNvPr>
          <p:cNvSpPr txBox="1"/>
          <p:nvPr/>
        </p:nvSpPr>
        <p:spPr>
          <a:xfrm>
            <a:off x="3606800" y="513080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dirty="0">
                <a:solidFill>
                  <a:srgbClr val="5A6B80"/>
                </a:solidFill>
                <a:latin typeface="Calibri" panose="020F0502020204030204" pitchFamily="34" charset="0"/>
              </a:rPr>
              <a:t>Innegociables. El fusible protege el cable, no la carga.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0E4C592-FA5A-4DEA-95B8-77F0D08B5444}"/>
              </a:ext>
            </a:extLst>
          </p:cNvPr>
          <p:cNvSpPr/>
          <p:nvPr/>
        </p:nvSpPr>
        <p:spPr>
          <a:xfrm>
            <a:off x="6197600" y="3886200"/>
            <a:ext cx="2590800" cy="23139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AA0D928-2172-4556-820C-A8236B69EAC6}"/>
              </a:ext>
            </a:extLst>
          </p:cNvPr>
          <p:cNvSpPr/>
          <p:nvPr/>
        </p:nvSpPr>
        <p:spPr>
          <a:xfrm>
            <a:off x="6400800" y="40894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F4C9929-41E8-46F5-A9DB-DAD3671B0BE6}"/>
              </a:ext>
            </a:extLst>
          </p:cNvPr>
          <p:cNvSpPr txBox="1"/>
          <p:nvPr/>
        </p:nvSpPr>
        <p:spPr>
          <a:xfrm>
            <a:off x="6400800" y="4597400"/>
            <a:ext cx="2184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Punteras tubulares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4127A81-2530-4D8E-853B-469C8538952A}"/>
              </a:ext>
            </a:extLst>
          </p:cNvPr>
          <p:cNvSpPr txBox="1"/>
          <p:nvPr/>
        </p:nvSpPr>
        <p:spPr>
          <a:xfrm>
            <a:off x="6400800" y="5130800"/>
            <a:ext cx="2184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dirty="0">
                <a:solidFill>
                  <a:srgbClr val="5A6B80"/>
                </a:solidFill>
                <a:latin typeface="Calibri" panose="020F0502020204030204" pitchFamily="34" charset="0"/>
              </a:rPr>
              <a:t>En todo cable multifilar que entre a una bornera.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A8F69EA-C1E5-4EFB-A5C6-70E147175172}"/>
              </a:ext>
            </a:extLst>
          </p:cNvPr>
          <p:cNvSpPr/>
          <p:nvPr/>
        </p:nvSpPr>
        <p:spPr>
          <a:xfrm>
            <a:off x="8991600" y="3886200"/>
            <a:ext cx="2590800" cy="2159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0E997A5-6BAF-4795-95E2-9E2225FC6441}"/>
              </a:ext>
            </a:extLst>
          </p:cNvPr>
          <p:cNvSpPr txBox="1"/>
          <p:nvPr/>
        </p:nvSpPr>
        <p:spPr>
          <a:xfrm>
            <a:off x="9194800" y="4114799"/>
            <a:ext cx="2184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FFFFFF"/>
                </a:solidFill>
                <a:latin typeface="Calibri" panose="020F0502020204030204" pitchFamily="34" charset="0"/>
              </a:rPr>
              <a:t>Todo diseño se juzga contra tres escenarios</a:t>
            </a:r>
            <a:endParaRPr lang="en-US" sz="15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AA1DC98-D020-491E-87F7-6CC27137CF06}"/>
              </a:ext>
            </a:extLst>
          </p:cNvPr>
          <p:cNvSpPr txBox="1"/>
          <p:nvPr/>
        </p:nvSpPr>
        <p:spPr>
          <a:xfrm>
            <a:off x="9194800" y="4851399"/>
            <a:ext cx="2184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s-ES" sz="1400" b="1">
                <a:solidFill>
                  <a:srgbClr val="1BA9D1"/>
                </a:solidFill>
                <a:latin typeface="Calibri" panose="020F0502020204030204" pitchFamily="34" charset="0"/>
              </a:rPr>
              <a:t>Vibración continua</a:t>
            </a:r>
          </a:p>
          <a:p>
            <a:pPr>
              <a:spcAft>
                <a:spcPts val="600"/>
              </a:spcAft>
            </a:pPr>
            <a:r>
              <a:rPr lang="es-ES" sz="1400" b="1">
                <a:solidFill>
                  <a:srgbClr val="1BA9D1"/>
                </a:solidFill>
                <a:latin typeface="Calibri" panose="020F0502020204030204" pitchFamily="34" charset="0"/>
              </a:rPr>
              <a:t>Corriente de bloqueo</a:t>
            </a:r>
          </a:p>
          <a:p>
            <a:pPr>
              <a:spcAft>
                <a:spcPts val="600"/>
              </a:spcAft>
            </a:pPr>
            <a:r>
              <a:rPr lang="es-ES" sz="1400" b="1">
                <a:solidFill>
                  <a:srgbClr val="1BA9D1"/>
                </a:solidFill>
                <a:latin typeface="Calibri" panose="020F0502020204030204" pitchFamily="34" charset="0"/>
              </a:rPr>
              <a:t>Estrés térmico</a:t>
            </a:r>
            <a:endParaRPr lang="en-US" sz="1400" b="1">
              <a:solidFill>
                <a:srgbClr val="1BA9D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97EAA98-A63E-459B-B9C5-7C886960023F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399961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7CC919-3584-4DB7-A867-1811642DA7AC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B · QUÉ HACEMOS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FDFDA9-7056-4C1B-96D1-9DD622DDBC42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Dos frentes, un solo objetivo: elegir el motor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E627DC2-2466-4E6F-BB96-2B8EF8A925BE}"/>
              </a:ext>
            </a:extLst>
          </p:cNvPr>
          <p:cNvSpPr/>
          <p:nvPr/>
        </p:nvSpPr>
        <p:spPr>
          <a:xfrm>
            <a:off x="609600" y="1498600"/>
            <a:ext cx="4826000" cy="3327400"/>
          </a:xfrm>
          <a:prstGeom prst="roundRect">
            <a:avLst>
              <a:gd name="adj" fmla="val 6000"/>
            </a:avLst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01186D-BAD8-42FD-919A-0C5458FEB060}"/>
              </a:ext>
            </a:extLst>
          </p:cNvPr>
          <p:cNvSpPr txBox="1"/>
          <p:nvPr/>
        </p:nvSpPr>
        <p:spPr>
          <a:xfrm>
            <a:off x="914400" y="1752600"/>
            <a:ext cx="4216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Modelo a escala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B207A47-B7F1-4DB8-AE5E-A68D51069C7B}"/>
              </a:ext>
            </a:extLst>
          </p:cNvPr>
          <p:cNvSpPr/>
          <p:nvPr/>
        </p:nvSpPr>
        <p:spPr>
          <a:xfrm>
            <a:off x="914400" y="22098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PCB fabricada y soldada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458F810-D0ED-4A8F-A939-6E5431D3151A}"/>
              </a:ext>
            </a:extLst>
          </p:cNvPr>
          <p:cNvSpPr/>
          <p:nvPr/>
        </p:nvSpPr>
        <p:spPr>
          <a:xfrm>
            <a:off x="939800" y="28448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14FD24-8310-4292-B96E-0ACC1A5FF8FC}"/>
              </a:ext>
            </a:extLst>
          </p:cNvPr>
          <p:cNvSpPr txBox="1"/>
          <p:nvPr/>
        </p:nvSpPr>
        <p:spPr>
          <a:xfrm>
            <a:off x="1193800" y="27685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FFFFFF"/>
                </a:solidFill>
                <a:latin typeface="Calibri" panose="020F0502020204030204" pitchFamily="34" charset="0"/>
              </a:rPr>
              <a:t>≈ 5,5 kg con todo montado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D4AC8AC-4E47-48A6-B79F-1AD5F67DE0D6}"/>
              </a:ext>
            </a:extLst>
          </p:cNvPr>
          <p:cNvSpPr/>
          <p:nvPr/>
        </p:nvSpPr>
        <p:spPr>
          <a:xfrm>
            <a:off x="939800" y="33274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7F7173-4E90-427F-B0F5-D55335B0A767}"/>
              </a:ext>
            </a:extLst>
          </p:cNvPr>
          <p:cNvSpPr txBox="1"/>
          <p:nvPr/>
        </p:nvSpPr>
        <p:spPr>
          <a:xfrm>
            <a:off x="1193800" y="32511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Batería de 12 V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27455B1-EE53-4517-B99E-F940B4C531B4}"/>
              </a:ext>
            </a:extLst>
          </p:cNvPr>
          <p:cNvSpPr/>
          <p:nvPr/>
        </p:nvSpPr>
        <p:spPr>
          <a:xfrm>
            <a:off x="939800" y="38100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9D0317-58F4-4E6B-B569-B0D6BA36AC09}"/>
              </a:ext>
            </a:extLst>
          </p:cNvPr>
          <p:cNvSpPr txBox="1"/>
          <p:nvPr/>
        </p:nvSpPr>
        <p:spPr>
          <a:xfrm>
            <a:off x="1193800" y="37337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4 motores 37D con encoder</a:t>
            </a:r>
            <a:endParaRPr lang="en-US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DBC6F0B-8BD0-4A6D-A20C-ADB1E92B7735}"/>
              </a:ext>
            </a:extLst>
          </p:cNvPr>
          <p:cNvSpPr/>
          <p:nvPr/>
        </p:nvSpPr>
        <p:spPr>
          <a:xfrm>
            <a:off x="939800" y="42926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8A0922-98B9-4E02-9B6F-DD19E768F422}"/>
              </a:ext>
            </a:extLst>
          </p:cNvPr>
          <p:cNvSpPr txBox="1"/>
          <p:nvPr/>
        </p:nvSpPr>
        <p:spPr>
          <a:xfrm>
            <a:off x="1193800" y="42163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ESP32 y placa propia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C4771BF-4130-4037-A0A5-A68F9D35ACB0}"/>
              </a:ext>
            </a:extLst>
          </p:cNvPr>
          <p:cNvSpPr/>
          <p:nvPr/>
        </p:nvSpPr>
        <p:spPr>
          <a:xfrm>
            <a:off x="6756400" y="1498600"/>
            <a:ext cx="4826000" cy="3327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50CF310-AF63-4D25-AC29-0420DBA29ADE}"/>
              </a:ext>
            </a:extLst>
          </p:cNvPr>
          <p:cNvSpPr txBox="1"/>
          <p:nvPr/>
        </p:nvSpPr>
        <p:spPr>
          <a:xfrm>
            <a:off x="7061200" y="1752600"/>
            <a:ext cx="4216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Rover final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D4EFF2D-EFDA-4B14-A645-117051F1BF3B}"/>
              </a:ext>
            </a:extLst>
          </p:cNvPr>
          <p:cNvSpPr/>
          <p:nvPr/>
        </p:nvSpPr>
        <p:spPr>
          <a:xfrm>
            <a:off x="7061200" y="220980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E8A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0B1F3A"/>
                </a:solidFill>
                <a:latin typeface="Calibri" panose="020F0502020204030204" pitchFamily="34" charset="0"/>
              </a:rPr>
              <a:t>Motor: a definir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56D2F37-8A39-41FE-AB31-BCEC5A01BB5C}"/>
              </a:ext>
            </a:extLst>
          </p:cNvPr>
          <p:cNvSpPr/>
          <p:nvPr/>
        </p:nvSpPr>
        <p:spPr>
          <a:xfrm>
            <a:off x="7086600" y="28448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62A60F-046A-4358-AB43-B4E005BC83AC}"/>
              </a:ext>
            </a:extLst>
          </p:cNvPr>
          <p:cNvSpPr txBox="1"/>
          <p:nvPr/>
        </p:nvSpPr>
        <p:spPr>
          <a:xfrm>
            <a:off x="7340600" y="27685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FFFFFF"/>
                </a:solidFill>
                <a:latin typeface="Calibri" panose="020F0502020204030204" pitchFamily="34" charset="0"/>
              </a:rPr>
              <a:t>≈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</a:rPr>
              <a:t>40 kg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6777A96-D443-4BE2-8190-803F3B707157}"/>
              </a:ext>
            </a:extLst>
          </p:cNvPr>
          <p:cNvSpPr/>
          <p:nvPr/>
        </p:nvSpPr>
        <p:spPr>
          <a:xfrm>
            <a:off x="7086600" y="33274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41F50F-074A-4B1F-A722-9EA5450B4559}"/>
              </a:ext>
            </a:extLst>
          </p:cNvPr>
          <p:cNvSpPr txBox="1"/>
          <p:nvPr/>
        </p:nvSpPr>
        <p:spPr>
          <a:xfrm>
            <a:off x="7340600" y="32511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Bus de 24 V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E8A5657-58E7-453D-B515-42E45FB0C2DB}"/>
              </a:ext>
            </a:extLst>
          </p:cNvPr>
          <p:cNvSpPr/>
          <p:nvPr/>
        </p:nvSpPr>
        <p:spPr>
          <a:xfrm>
            <a:off x="7086600" y="38100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6E015DA-CF47-4117-B567-870111868942}"/>
              </a:ext>
            </a:extLst>
          </p:cNvPr>
          <p:cNvSpPr txBox="1"/>
          <p:nvPr/>
        </p:nvSpPr>
        <p:spPr>
          <a:xfrm>
            <a:off x="7340600" y="37337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4WD con dirección Ackermann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221C3F4-53B5-4112-8A69-EE1FEA1F739A}"/>
              </a:ext>
            </a:extLst>
          </p:cNvPr>
          <p:cNvSpPr/>
          <p:nvPr/>
        </p:nvSpPr>
        <p:spPr>
          <a:xfrm>
            <a:off x="7086600" y="4292600"/>
            <a:ext cx="127000" cy="127000"/>
          </a:xfrm>
          <a:prstGeom prst="ellipse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C0A9A57-352E-4BFB-AAD1-B7F3983706E7}"/>
              </a:ext>
            </a:extLst>
          </p:cNvPr>
          <p:cNvSpPr txBox="1"/>
          <p:nvPr/>
        </p:nvSpPr>
        <p:spPr>
          <a:xfrm>
            <a:off x="7340600" y="4216399"/>
            <a:ext cx="393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Chasis de 0,8 × 0,4 m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8A8F8BB8-EF7B-4076-A81C-13A7FCAD2298}"/>
              </a:ext>
            </a:extLst>
          </p:cNvPr>
          <p:cNvSpPr/>
          <p:nvPr/>
        </p:nvSpPr>
        <p:spPr>
          <a:xfrm>
            <a:off x="5588000" y="2819400"/>
            <a:ext cx="1016000" cy="711200"/>
          </a:xfrm>
          <a:prstGeom prst="rightArrow">
            <a:avLst/>
          </a:prstGeom>
          <a:solidFill>
            <a:srgbClr val="1BA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DDF1AA7-29E1-47BD-AE1D-A829EE221CCF}"/>
              </a:ext>
            </a:extLst>
          </p:cNvPr>
          <p:cNvSpPr txBox="1"/>
          <p:nvPr/>
        </p:nvSpPr>
        <p:spPr>
          <a:xfrm>
            <a:off x="5435600" y="2413000"/>
            <a:ext cx="132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 dirty="0" err="1">
                <a:solidFill>
                  <a:srgbClr val="5A6B80"/>
                </a:solidFill>
                <a:latin typeface="Calibri" panose="020F0502020204030204" pitchFamily="34" charset="0"/>
              </a:rPr>
              <a:t>mide</a:t>
            </a:r>
            <a:r>
              <a:rPr lang="en-US" sz="1600" b="1" dirty="0">
                <a:solidFill>
                  <a:srgbClr val="5A6B80"/>
                </a:solidFill>
                <a:latin typeface="Calibri" panose="020F0502020204030204" pitchFamily="34" charset="0"/>
              </a:rPr>
              <a:t> torque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CE2F967-F8B5-415E-ABE2-7A609DB26AEC}"/>
              </a:ext>
            </a:extLst>
          </p:cNvPr>
          <p:cNvSpPr txBox="1"/>
          <p:nvPr/>
        </p:nvSpPr>
        <p:spPr>
          <a:xfrm>
            <a:off x="5435600" y="3606800"/>
            <a:ext cx="132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 dirty="0">
                <a:solidFill>
                  <a:srgbClr val="5A6B80"/>
                </a:solidFill>
                <a:latin typeface="Calibri" panose="020F0502020204030204" pitchFamily="34" charset="0"/>
              </a:rPr>
              <a:t>define </a:t>
            </a:r>
            <a:r>
              <a:rPr lang="en-US" sz="1400" b="1" dirty="0" err="1">
                <a:solidFill>
                  <a:srgbClr val="5A6B80"/>
                </a:solidFill>
                <a:latin typeface="Calibri" panose="020F0502020204030204" pitchFamily="34" charset="0"/>
              </a:rPr>
              <a:t>el</a:t>
            </a:r>
            <a:r>
              <a:rPr lang="en-US" sz="1400" b="1" dirty="0">
                <a:solidFill>
                  <a:srgbClr val="5A6B80"/>
                </a:solidFill>
                <a:latin typeface="Calibri" panose="020F0502020204030204" pitchFamily="34" charset="0"/>
              </a:rPr>
              <a:t> motor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61FC2E5-8E79-4E13-8BBF-1D10E3310414}"/>
              </a:ext>
            </a:extLst>
          </p:cNvPr>
          <p:cNvSpPr/>
          <p:nvPr/>
        </p:nvSpPr>
        <p:spPr>
          <a:xfrm>
            <a:off x="609600" y="5054600"/>
            <a:ext cx="10972800" cy="121920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ABA5C4F-5854-49C8-A733-3EB1890244AF}"/>
              </a:ext>
            </a:extLst>
          </p:cNvPr>
          <p:cNvSpPr txBox="1"/>
          <p:nvPr/>
        </p:nvSpPr>
        <p:spPr>
          <a:xfrm>
            <a:off x="914400" y="5257799"/>
            <a:ext cx="10363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 b="1">
                <a:solidFill>
                  <a:srgbClr val="17212F"/>
                </a:solidFill>
                <a:latin typeface="Arial" panose="020B0604020202020204" pitchFamily="34" charset="0"/>
              </a:rPr>
              <a:t>El modelo no es una maqueta: es un instrumento de medición.</a:t>
            </a:r>
            <a:endParaRPr lang="en-US" sz="2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6AFC651-6EB9-4C20-8733-33F973625261}"/>
              </a:ext>
            </a:extLst>
          </p:cNvPr>
          <p:cNvSpPr txBox="1"/>
          <p:nvPr/>
        </p:nvSpPr>
        <p:spPr>
          <a:xfrm>
            <a:off x="914400" y="5714999"/>
            <a:ext cx="10363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>
                <a:solidFill>
                  <a:srgbClr val="5A6B80"/>
                </a:solidFill>
                <a:latin typeface="Calibri" panose="020F0502020204030204" pitchFamily="34" charset="0"/>
              </a:rPr>
              <a:t>Existe para elegir el motor del rover final sin comprar motores grandes a ciegas.</a:t>
            </a:r>
            <a:endParaRPr lang="en-US" sz="16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AB177AB-CC21-4C43-87D5-3252BEDEC445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224984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21A1E4-F17A-412A-85C9-F584E7FB4E2E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C · QUÉ HICIMOS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88A28E-510B-4D0E-9241-8CB04A4F6D36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Medimos chico, escalamos y elegimos el motor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48CE4DB-959F-4890-8777-F2EA0B8DAB97}"/>
              </a:ext>
            </a:extLst>
          </p:cNvPr>
          <p:cNvSpPr/>
          <p:nvPr/>
        </p:nvSpPr>
        <p:spPr>
          <a:xfrm>
            <a:off x="609600" y="1498600"/>
            <a:ext cx="3352800" cy="1600200"/>
          </a:xfrm>
          <a:prstGeom prst="roundRect">
            <a:avLst>
              <a:gd name="adj" fmla="val 8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1F7F406-5190-485A-9673-49041ECE21B1}"/>
              </a:ext>
            </a:extLst>
          </p:cNvPr>
          <p:cNvSpPr/>
          <p:nvPr/>
        </p:nvSpPr>
        <p:spPr>
          <a:xfrm>
            <a:off x="812800" y="17018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256A21-E29A-4145-8821-B3F6DA88237B}"/>
              </a:ext>
            </a:extLst>
          </p:cNvPr>
          <p:cNvSpPr txBox="1"/>
          <p:nvPr/>
        </p:nvSpPr>
        <p:spPr>
          <a:xfrm>
            <a:off x="1346200" y="1752599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Medimos en el modelo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05A4C7-BE96-4084-82DD-F680B23DCF6B}"/>
              </a:ext>
            </a:extLst>
          </p:cNvPr>
          <p:cNvSpPr txBox="1"/>
          <p:nvPr/>
        </p:nvSpPr>
        <p:spPr>
          <a:xfrm>
            <a:off x="812800" y="22606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dirty="0">
                <a:solidFill>
                  <a:srgbClr val="5A6B80"/>
                </a:solidFill>
                <a:latin typeface="Calibri" panose="020F0502020204030204" pitchFamily="34" charset="0"/>
              </a:rPr>
              <a:t>Torque real por rueda, en piso duro y en arena.</a:t>
            </a:r>
            <a:endParaRPr lang="en-US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AA0203A-1F0D-4ED4-95F2-3B32DF6F0F17}"/>
              </a:ext>
            </a:extLst>
          </p:cNvPr>
          <p:cNvCxnSpPr/>
          <p:nvPr/>
        </p:nvCxnSpPr>
        <p:spPr>
          <a:xfrm>
            <a:off x="4038600" y="2298700"/>
            <a:ext cx="304800" cy="0"/>
          </a:xfrm>
          <a:prstGeom prst="line">
            <a:avLst/>
          </a:prstGeom>
          <a:ln w="31750">
            <a:solidFill>
              <a:srgbClr val="1F5FB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E53B760-3214-4165-8C57-02E1A55EF5E0}"/>
              </a:ext>
            </a:extLst>
          </p:cNvPr>
          <p:cNvSpPr/>
          <p:nvPr/>
        </p:nvSpPr>
        <p:spPr>
          <a:xfrm>
            <a:off x="4419600" y="1498600"/>
            <a:ext cx="3352800" cy="1600200"/>
          </a:xfrm>
          <a:prstGeom prst="roundRect">
            <a:avLst>
              <a:gd name="adj" fmla="val 8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D01F322-FDB7-496F-A806-8B0CC4332C98}"/>
              </a:ext>
            </a:extLst>
          </p:cNvPr>
          <p:cNvSpPr/>
          <p:nvPr/>
        </p:nvSpPr>
        <p:spPr>
          <a:xfrm>
            <a:off x="4622800" y="17018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D06CD2-81DA-4A72-9872-1A48F894D38D}"/>
              </a:ext>
            </a:extLst>
          </p:cNvPr>
          <p:cNvSpPr txBox="1"/>
          <p:nvPr/>
        </p:nvSpPr>
        <p:spPr>
          <a:xfrm>
            <a:off x="5156200" y="1752599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Escalamos con </a:t>
            </a:r>
            <a:r>
              <a:rPr lang="el-GR" sz="1600" b="1">
                <a:solidFill>
                  <a:srgbClr val="17212F"/>
                </a:solidFill>
                <a:latin typeface="Calibri" panose="020F0502020204030204" pitchFamily="34" charset="0"/>
              </a:rPr>
              <a:t>λ</a:t>
            </a:r>
            <a:endParaRPr lang="en-US" sz="16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5835A4-C97C-4CD0-A458-CF9B205B911B}"/>
              </a:ext>
            </a:extLst>
          </p:cNvPr>
          <p:cNvSpPr txBox="1"/>
          <p:nvPr/>
        </p:nvSpPr>
        <p:spPr>
          <a:xfrm>
            <a:off x="4622800" y="2197099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l-GR" sz="1600" dirty="0">
                <a:solidFill>
                  <a:srgbClr val="5A6B80"/>
                </a:solidFill>
                <a:latin typeface="Calibri" panose="020F0502020204030204" pitchFamily="34" charset="0"/>
              </a:rPr>
              <a:t>λ ≈ 0,37: 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sale de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comparar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la masa del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modelo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con la del rover (5,5 kg contra 40 kg).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33EDA2B-0339-4C97-ABA6-3F2467F302AB}"/>
              </a:ext>
            </a:extLst>
          </p:cNvPr>
          <p:cNvCxnSpPr/>
          <p:nvPr/>
        </p:nvCxnSpPr>
        <p:spPr>
          <a:xfrm>
            <a:off x="7848600" y="2298700"/>
            <a:ext cx="304800" cy="0"/>
          </a:xfrm>
          <a:prstGeom prst="line">
            <a:avLst/>
          </a:prstGeom>
          <a:ln w="31750">
            <a:solidFill>
              <a:srgbClr val="1F5FB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4138F1C-C58B-4242-A95E-4EBD40A12C7B}"/>
              </a:ext>
            </a:extLst>
          </p:cNvPr>
          <p:cNvSpPr/>
          <p:nvPr/>
        </p:nvSpPr>
        <p:spPr>
          <a:xfrm>
            <a:off x="8229600" y="1498600"/>
            <a:ext cx="3352800" cy="1600200"/>
          </a:xfrm>
          <a:prstGeom prst="roundRect">
            <a:avLst>
              <a:gd name="adj" fmla="val 8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124269B-10F5-4BDF-93A0-CB3F94A4B207}"/>
              </a:ext>
            </a:extLst>
          </p:cNvPr>
          <p:cNvSpPr/>
          <p:nvPr/>
        </p:nvSpPr>
        <p:spPr>
          <a:xfrm>
            <a:off x="8432800" y="17018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134F9D-214B-4A93-B46D-EAA847E4D980}"/>
              </a:ext>
            </a:extLst>
          </p:cNvPr>
          <p:cNvSpPr txBox="1"/>
          <p:nvPr/>
        </p:nvSpPr>
        <p:spPr>
          <a:xfrm>
            <a:off x="8966200" y="1752599"/>
            <a:ext cx="248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Elegimos el motor grande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2E2AA15-51BD-4FD5-9FC3-088274C5CC35}"/>
              </a:ext>
            </a:extLst>
          </p:cNvPr>
          <p:cNvSpPr txBox="1"/>
          <p:nvPr/>
        </p:nvSpPr>
        <p:spPr>
          <a:xfrm>
            <a:off x="8432800" y="2194559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Con el torque por rueda del </a:t>
            </a:r>
            <a:r>
              <a:rPr lang="es-E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rover</a:t>
            </a:r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 real se cierra la especificación del motor.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8FC79A4-60D1-428A-BC36-B89F4B74BF44}"/>
              </a:ext>
            </a:extLst>
          </p:cNvPr>
          <p:cNvSpPr/>
          <p:nvPr/>
        </p:nvSpPr>
        <p:spPr>
          <a:xfrm>
            <a:off x="609600" y="3352800"/>
            <a:ext cx="5334000" cy="24638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F30F83-EBA1-47FB-9030-F02FE8DC2C03}"/>
              </a:ext>
            </a:extLst>
          </p:cNvPr>
          <p:cNvSpPr txBox="1"/>
          <p:nvPr/>
        </p:nvSpPr>
        <p:spPr>
          <a:xfrm>
            <a:off x="914400" y="3581400"/>
            <a:ext cx="472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Qué valida el modelo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D6742E-C2FD-495F-A645-0F460C78089F}"/>
              </a:ext>
            </a:extLst>
          </p:cNvPr>
          <p:cNvSpPr txBox="1"/>
          <p:nvPr/>
        </p:nvSpPr>
        <p:spPr>
          <a:xfrm>
            <a:off x="914400" y="3962400"/>
            <a:ext cx="47244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400"/>
              </a:spcAft>
              <a:buClr>
                <a:srgbClr val="2EAD6B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Tracción y torque en dos superficies</a:t>
            </a:r>
          </a:p>
          <a:p>
            <a:pPr marL="177800" indent="-177800">
              <a:spcAft>
                <a:spcPts val="400"/>
              </a:spcAft>
              <a:buClr>
                <a:srgbClr val="2EAD6B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Cinemática </a:t>
            </a:r>
            <a:r>
              <a:rPr lang="es-ES" dirty="0" err="1">
                <a:solidFill>
                  <a:srgbClr val="17212F"/>
                </a:solidFill>
                <a:latin typeface="Calibri" panose="020F0502020204030204" pitchFamily="34" charset="0"/>
              </a:rPr>
              <a:t>Swerve</a:t>
            </a:r>
            <a:endParaRPr lang="es-ES" dirty="0">
              <a:solidFill>
                <a:srgbClr val="17212F"/>
              </a:solidFill>
              <a:latin typeface="Calibri" panose="020F0502020204030204" pitchFamily="34" charset="0"/>
            </a:endParaRPr>
          </a:p>
          <a:p>
            <a:pPr marL="177800" indent="-177800">
              <a:spcAft>
                <a:spcPts val="400"/>
              </a:spcAft>
              <a:buClr>
                <a:srgbClr val="2EAD6B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Control de velocidad por rueda</a:t>
            </a:r>
          </a:p>
          <a:p>
            <a:pPr marL="177800" indent="-177800">
              <a:spcAft>
                <a:spcPts val="400"/>
              </a:spcAft>
              <a:buClr>
                <a:srgbClr val="2EAD6B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Firmware y telemetría</a:t>
            </a:r>
          </a:p>
          <a:p>
            <a:pPr marL="177800" indent="-177800">
              <a:spcAft>
                <a:spcPts val="400"/>
              </a:spcAft>
              <a:buClr>
                <a:srgbClr val="2EAD6B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μ real, por ángulo de deslizamiento</a:t>
            </a:r>
            <a:endParaRPr lang="en-US" dirty="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709607BA-7D3F-4474-BCA2-5B1589D7D4B0}"/>
              </a:ext>
            </a:extLst>
          </p:cNvPr>
          <p:cNvSpPr/>
          <p:nvPr/>
        </p:nvSpPr>
        <p:spPr>
          <a:xfrm>
            <a:off x="6248400" y="3352800"/>
            <a:ext cx="5334000" cy="24638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FA9B717-9E6F-49D1-B3AA-8A6B6C418B8D}"/>
              </a:ext>
            </a:extLst>
          </p:cNvPr>
          <p:cNvSpPr txBox="1"/>
          <p:nvPr/>
        </p:nvSpPr>
        <p:spPr>
          <a:xfrm>
            <a:off x="6553200" y="3581400"/>
            <a:ext cx="472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Qué no valida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9F17BAA-3768-48B3-9B3D-4B9A66D7EA3B}"/>
              </a:ext>
            </a:extLst>
          </p:cNvPr>
          <p:cNvSpPr txBox="1"/>
          <p:nvPr/>
        </p:nvSpPr>
        <p:spPr>
          <a:xfrm>
            <a:off x="6553200" y="3987799"/>
            <a:ext cx="47244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400"/>
              </a:spcAft>
              <a:buClr>
                <a:srgbClr val="C43C3C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Corriente de arranque y rizado</a:t>
            </a:r>
          </a:p>
          <a:p>
            <a:pPr marL="177800" indent="-177800">
              <a:spcAft>
                <a:spcPts val="400"/>
              </a:spcAft>
              <a:buClr>
                <a:srgbClr val="C43C3C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EMI</a:t>
            </a:r>
          </a:p>
          <a:p>
            <a:pPr marL="177800" indent="-177800">
              <a:spcAft>
                <a:spcPts val="400"/>
              </a:spcAft>
              <a:buClr>
                <a:srgbClr val="C43C3C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Temperatura del motor grande</a:t>
            </a:r>
          </a:p>
          <a:p>
            <a:pPr marL="177800" indent="-177800">
              <a:spcAft>
                <a:spcPts val="400"/>
              </a:spcAft>
              <a:buClr>
                <a:srgbClr val="C43C3C"/>
              </a:buClr>
              <a:buFont typeface="+mj-lt"/>
              <a:buChar char="•"/>
            </a:pPr>
            <a:r>
              <a:rPr lang="es-ES" dirty="0">
                <a:solidFill>
                  <a:srgbClr val="17212F"/>
                </a:solidFill>
                <a:latin typeface="Calibri" panose="020F0502020204030204" pitchFamily="34" charset="0"/>
              </a:rPr>
              <a:t>Rendimiento del tren motriz real</a:t>
            </a:r>
            <a:endParaRPr lang="en-US" dirty="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0337EF8-A85A-4FC0-BEF9-7A7508A8BD80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33368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D3B6C0-9E49-4156-BC3E-AD37D2B1B253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7"/>
          <a:stretch/>
        </p:blipFill>
        <p:spPr>
          <a:xfrm>
            <a:off x="-1" y="0"/>
            <a:ext cx="10312401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E6FCA78-8FDC-41A6-872D-C27ECE228DBC}"/>
              </a:ext>
            </a:extLst>
          </p:cNvPr>
          <p:cNvSpPr/>
          <p:nvPr/>
        </p:nvSpPr>
        <p:spPr>
          <a:xfrm>
            <a:off x="7975600" y="0"/>
            <a:ext cx="4216400" cy="685800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65C24-F7BD-4A19-A2BE-8AC3654D4051}"/>
              </a:ext>
            </a:extLst>
          </p:cNvPr>
          <p:cNvSpPr txBox="1"/>
          <p:nvPr/>
        </p:nvSpPr>
        <p:spPr>
          <a:xfrm>
            <a:off x="8382000" y="609599"/>
            <a:ext cx="3403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C · QUÉ HICIMOS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798D17-2764-4888-8883-B24C9F0C7434}"/>
              </a:ext>
            </a:extLst>
          </p:cNvPr>
          <p:cNvSpPr txBox="1"/>
          <p:nvPr/>
        </p:nvSpPr>
        <p:spPr>
          <a:xfrm>
            <a:off x="8382000" y="863600"/>
            <a:ext cx="340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El modelo ya está armado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6877B36-5C93-4774-9041-8FC661DAF854}"/>
              </a:ext>
            </a:extLst>
          </p:cNvPr>
          <p:cNvSpPr/>
          <p:nvPr/>
        </p:nvSpPr>
        <p:spPr>
          <a:xfrm>
            <a:off x="8382000" y="22352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03EE85-BD87-4A7B-BEC6-F527F00FB9C6}"/>
              </a:ext>
            </a:extLst>
          </p:cNvPr>
          <p:cNvSpPr txBox="1"/>
          <p:nvPr/>
        </p:nvSpPr>
        <p:spPr>
          <a:xfrm>
            <a:off x="8890000" y="2260599"/>
            <a:ext cx="2895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dirty="0">
                <a:solidFill>
                  <a:srgbClr val="17212F"/>
                </a:solidFill>
                <a:latin typeface="Calibri" panose="020F0502020204030204" pitchFamily="34" charset="0"/>
              </a:rPr>
              <a:t>Swerve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EA872-B4AA-4F2E-A05D-765E01246D4E}"/>
              </a:ext>
            </a:extLst>
          </p:cNvPr>
          <p:cNvSpPr txBox="1"/>
          <p:nvPr/>
        </p:nvSpPr>
        <p:spPr>
          <a:xfrm>
            <a:off x="8890000" y="2565399"/>
            <a:ext cx="289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5A6B80"/>
                </a:solidFill>
                <a:latin typeface="Calibri" panose="020F0502020204030204" pitchFamily="34" charset="0"/>
              </a:rPr>
              <a:t>4 servos de dirección, uno por rueda</a:t>
            </a:r>
            <a:endParaRPr lang="en-US" sz="13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888434E-49E8-467E-8D8D-9ED373DFDF63}"/>
              </a:ext>
            </a:extLst>
          </p:cNvPr>
          <p:cNvSpPr/>
          <p:nvPr/>
        </p:nvSpPr>
        <p:spPr>
          <a:xfrm>
            <a:off x="8382000" y="32004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2D0980-5B4B-42D1-A1E3-7DCB91DA9E21}"/>
              </a:ext>
            </a:extLst>
          </p:cNvPr>
          <p:cNvSpPr txBox="1"/>
          <p:nvPr/>
        </p:nvSpPr>
        <p:spPr>
          <a:xfrm>
            <a:off x="8890000" y="3225799"/>
            <a:ext cx="2895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4 motores CQRobot 37D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23689D-8AC7-4D42-87E0-75022C8875DA}"/>
              </a:ext>
            </a:extLst>
          </p:cNvPr>
          <p:cNvSpPr txBox="1"/>
          <p:nvPr/>
        </p:nvSpPr>
        <p:spPr>
          <a:xfrm>
            <a:off x="8890000" y="3530599"/>
            <a:ext cx="289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A6B80"/>
                </a:solidFill>
                <a:latin typeface="Calibri" panose="020F0502020204030204" pitchFamily="34" charset="0"/>
              </a:rPr>
              <a:t>Reducción 90:1, con encoder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03C323B-B364-4BFD-8ACE-4231BA881A80}"/>
              </a:ext>
            </a:extLst>
          </p:cNvPr>
          <p:cNvSpPr/>
          <p:nvPr/>
        </p:nvSpPr>
        <p:spPr>
          <a:xfrm>
            <a:off x="8382000" y="41656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DF46429-81B8-441F-B081-BD953FB10B48}"/>
              </a:ext>
            </a:extLst>
          </p:cNvPr>
          <p:cNvSpPr txBox="1"/>
          <p:nvPr/>
        </p:nvSpPr>
        <p:spPr>
          <a:xfrm>
            <a:off x="8890000" y="4190999"/>
            <a:ext cx="2895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Batería de 12 V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B6ADCE-FC28-4224-ADDE-B777C6A855F0}"/>
              </a:ext>
            </a:extLst>
          </p:cNvPr>
          <p:cNvSpPr txBox="1"/>
          <p:nvPr/>
        </p:nvSpPr>
        <p:spPr>
          <a:xfrm>
            <a:off x="8890000" y="4495799"/>
            <a:ext cx="289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A6B80"/>
                </a:solidFill>
                <a:latin typeface="Calibri" panose="020F0502020204030204" pitchFamily="34" charset="0"/>
              </a:rPr>
              <a:t>Plomo-ácido, 7 Ah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8A9A715-F75B-4D62-B12B-201962325B59}"/>
              </a:ext>
            </a:extLst>
          </p:cNvPr>
          <p:cNvSpPr/>
          <p:nvPr/>
        </p:nvSpPr>
        <p:spPr>
          <a:xfrm>
            <a:off x="8382000" y="5130800"/>
            <a:ext cx="355600" cy="3556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390FE1-EE7F-4CAB-87BB-285418F259E4}"/>
              </a:ext>
            </a:extLst>
          </p:cNvPr>
          <p:cNvSpPr txBox="1"/>
          <p:nvPr/>
        </p:nvSpPr>
        <p:spPr>
          <a:xfrm>
            <a:off x="8890000" y="5156199"/>
            <a:ext cx="2895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≈ 5,5 kg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F97B041-142C-4E95-9638-7A8D37441767}"/>
              </a:ext>
            </a:extLst>
          </p:cNvPr>
          <p:cNvSpPr txBox="1"/>
          <p:nvPr/>
        </p:nvSpPr>
        <p:spPr>
          <a:xfrm>
            <a:off x="8890000" y="5460999"/>
            <a:ext cx="2895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5A6B80"/>
                </a:solidFill>
                <a:latin typeface="Calibri" panose="020F0502020204030204" pitchFamily="34" charset="0"/>
              </a:rPr>
              <a:t>De ahí sale la escala: λ ≈ 0,37</a:t>
            </a:r>
            <a:endParaRPr lang="en-US" sz="13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CECFC0-4AB6-43F7-B4DF-C6DB627B385A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786772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E16779-1C5F-4B60-8CD7-4CAEA4BAB1F5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C · QUÉ HICIMOS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4EDAE5B-609C-4743-8819-E33F105EA88D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De KiCad a la placa soldada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715DB9-2066-4BF3-AC92-9AF74539632B}"/>
              </a:ext>
            </a:extLst>
          </p:cNvPr>
          <p:cNvSpPr txBox="1"/>
          <p:nvPr/>
        </p:nvSpPr>
        <p:spPr>
          <a:xfrm>
            <a:off x="609600" y="12192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400">
                <a:solidFill>
                  <a:srgbClr val="5A6B80"/>
                </a:solidFill>
                <a:latin typeface="Calibri" panose="020F0502020204030204" pitchFamily="34" charset="0"/>
              </a:rPr>
              <a:t>Placa propia solo para la distribución y el control. Drivers, regulador y ESP32 van en módulos comprados.</a:t>
            </a:r>
            <a:endParaRPr lang="en-US" sz="14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B0C4E5-D774-4590-8FE6-3F7C258E5C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>
            <a:fillRect/>
          </a:stretch>
        </p:blipFill>
        <p:spPr>
          <a:xfrm>
            <a:off x="609600" y="1701800"/>
            <a:ext cx="2514600" cy="2514600"/>
          </a:xfrm>
          <a:prstGeom prst="roundRect">
            <a:avLst>
              <a:gd name="adj" fmla="val 5000"/>
            </a:avLst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816871E-53FF-462E-A7C0-3724A6DCA24F}"/>
              </a:ext>
            </a:extLst>
          </p:cNvPr>
          <p:cNvCxnSpPr/>
          <p:nvPr/>
        </p:nvCxnSpPr>
        <p:spPr>
          <a:xfrm>
            <a:off x="3175000" y="2959100"/>
            <a:ext cx="203200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557D8613-9324-445E-9404-6A58A199D89D}"/>
              </a:ext>
            </a:extLst>
          </p:cNvPr>
          <p:cNvSpPr/>
          <p:nvPr/>
        </p:nvSpPr>
        <p:spPr>
          <a:xfrm>
            <a:off x="609600" y="4445000"/>
            <a:ext cx="330200" cy="3302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18955E-E81C-4FD9-A808-7EA535DC1ACB}"/>
              </a:ext>
            </a:extLst>
          </p:cNvPr>
          <p:cNvSpPr txBox="1"/>
          <p:nvPr/>
        </p:nvSpPr>
        <p:spPr>
          <a:xfrm>
            <a:off x="1041400" y="4470400"/>
            <a:ext cx="208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Esquemático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D28DCFC-144A-43B6-ABD3-F5E3DB193B4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" b="417"/>
          <a:stretch>
            <a:fillRect/>
          </a:stretch>
        </p:blipFill>
        <p:spPr>
          <a:xfrm>
            <a:off x="3429000" y="1701800"/>
            <a:ext cx="2514600" cy="2514600"/>
          </a:xfrm>
          <a:prstGeom prst="roundRect">
            <a:avLst>
              <a:gd name="adj" fmla="val 5000"/>
            </a:avLst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A7C0904-D934-4405-824C-F26C2A1D3DA0}"/>
              </a:ext>
            </a:extLst>
          </p:cNvPr>
          <p:cNvCxnSpPr/>
          <p:nvPr/>
        </p:nvCxnSpPr>
        <p:spPr>
          <a:xfrm>
            <a:off x="5994400" y="2959100"/>
            <a:ext cx="203200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759B6AB5-A44F-470E-A9B1-7E964ED4B386}"/>
              </a:ext>
            </a:extLst>
          </p:cNvPr>
          <p:cNvSpPr/>
          <p:nvPr/>
        </p:nvSpPr>
        <p:spPr>
          <a:xfrm>
            <a:off x="3429000" y="4445000"/>
            <a:ext cx="330200" cy="3302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10D3B7-1ECF-49DB-B4CB-09E7382FB428}"/>
              </a:ext>
            </a:extLst>
          </p:cNvPr>
          <p:cNvSpPr txBox="1"/>
          <p:nvPr/>
        </p:nvSpPr>
        <p:spPr>
          <a:xfrm>
            <a:off x="3860800" y="4470400"/>
            <a:ext cx="208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Ruteo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E84A3DF-E5A2-48D7-8236-039B80291C56}"/>
              </a:ext>
            </a:extLst>
          </p:cNvPr>
          <p:cNvSpPr txBox="1"/>
          <p:nvPr/>
        </p:nvSpPr>
        <p:spPr>
          <a:xfrm>
            <a:off x="3860800" y="4749800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5A6B80"/>
                </a:solidFill>
                <a:latin typeface="Calibri" panose="020F0502020204030204" pitchFamily="34" charset="0"/>
              </a:rPr>
              <a:t>Dos masas unidas en un solo punto</a:t>
            </a:r>
            <a:endParaRPr lang="en-US" sz="12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2DB0AE9-3B26-4F62-AEAC-73AD48CDFB8F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" t="1010" r="12923" b="-1010"/>
          <a:stretch/>
        </p:blipFill>
        <p:spPr>
          <a:xfrm>
            <a:off x="6299200" y="1727198"/>
            <a:ext cx="2514600" cy="2514600"/>
          </a:xfrm>
          <a:prstGeom prst="roundRect">
            <a:avLst>
              <a:gd name="adj" fmla="val 5000"/>
            </a:avLst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31C50B2-983F-4DF3-8854-4AC23FB118BE}"/>
              </a:ext>
            </a:extLst>
          </p:cNvPr>
          <p:cNvCxnSpPr/>
          <p:nvPr/>
        </p:nvCxnSpPr>
        <p:spPr>
          <a:xfrm>
            <a:off x="8813800" y="2959100"/>
            <a:ext cx="203200" cy="0"/>
          </a:xfrm>
          <a:prstGeom prst="line">
            <a:avLst/>
          </a:prstGeom>
          <a:ln w="28575">
            <a:solidFill>
              <a:srgbClr val="1F5FB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1CB5E06E-5749-4964-AAD7-6315F123BD02}"/>
              </a:ext>
            </a:extLst>
          </p:cNvPr>
          <p:cNvSpPr/>
          <p:nvPr/>
        </p:nvSpPr>
        <p:spPr>
          <a:xfrm>
            <a:off x="6248400" y="4445000"/>
            <a:ext cx="330200" cy="3302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8B460B8-9EF8-49E6-9129-7E87294E4770}"/>
              </a:ext>
            </a:extLst>
          </p:cNvPr>
          <p:cNvSpPr txBox="1"/>
          <p:nvPr/>
        </p:nvSpPr>
        <p:spPr>
          <a:xfrm>
            <a:off x="6680200" y="4470400"/>
            <a:ext cx="208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Vista 3D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B550B99-915E-4C92-BF9A-927DF029942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3531" r="3000" b="27531"/>
          <a:stretch>
            <a:fillRect/>
          </a:stretch>
        </p:blipFill>
        <p:spPr>
          <a:xfrm>
            <a:off x="9067800" y="1701800"/>
            <a:ext cx="2514600" cy="2514600"/>
          </a:xfrm>
          <a:prstGeom prst="roundRect">
            <a:avLst>
              <a:gd name="adj" fmla="val 5000"/>
            </a:avLst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9719A0B5-134E-4EBF-A1DC-B49DF7CFED3F}"/>
              </a:ext>
            </a:extLst>
          </p:cNvPr>
          <p:cNvSpPr/>
          <p:nvPr/>
        </p:nvSpPr>
        <p:spPr>
          <a:xfrm>
            <a:off x="9067800" y="4445000"/>
            <a:ext cx="330200" cy="3302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9A177B3-61F1-4BB0-89EF-64874C1EB46C}"/>
              </a:ext>
            </a:extLst>
          </p:cNvPr>
          <p:cNvSpPr txBox="1"/>
          <p:nvPr/>
        </p:nvSpPr>
        <p:spPr>
          <a:xfrm>
            <a:off x="9499600" y="4470400"/>
            <a:ext cx="208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7212F"/>
                </a:solidFill>
                <a:latin typeface="Calibri" panose="020F0502020204030204" pitchFamily="34" charset="0"/>
              </a:rPr>
              <a:t>Placa real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B372591-F5DD-4586-9266-F98B2A580F25}"/>
              </a:ext>
            </a:extLst>
          </p:cNvPr>
          <p:cNvSpPr txBox="1"/>
          <p:nvPr/>
        </p:nvSpPr>
        <p:spPr>
          <a:xfrm>
            <a:off x="609600" y="5740399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i="1" dirty="0">
                <a:solidFill>
                  <a:srgbClr val="5A6B80"/>
                </a:solidFill>
                <a:latin typeface="Calibri" panose="020F0502020204030204" pitchFamily="34" charset="0"/>
              </a:rPr>
              <a:t>PCB Rover IEEE V1 · ITBA 2026 · </a:t>
            </a:r>
            <a:r>
              <a:rPr lang="en-US" sz="1300" i="1" dirty="0" err="1">
                <a:solidFill>
                  <a:srgbClr val="5A6B80"/>
                </a:solidFill>
                <a:latin typeface="Calibri" panose="020F0502020204030204" pitchFamily="34" charset="0"/>
              </a:rPr>
              <a:t>Cecotti</a:t>
            </a:r>
            <a:r>
              <a:rPr lang="en-US" sz="1300" i="1" dirty="0">
                <a:solidFill>
                  <a:srgbClr val="5A6B80"/>
                </a:solidFill>
                <a:latin typeface="Calibri" panose="020F0502020204030204" pitchFamily="34" charset="0"/>
              </a:rPr>
              <a:t>, Bélico, </a:t>
            </a:r>
            <a:r>
              <a:rPr lang="en-US" sz="1300" i="1" dirty="0" err="1">
                <a:solidFill>
                  <a:srgbClr val="5A6B80"/>
                </a:solidFill>
                <a:latin typeface="Calibri" panose="020F0502020204030204" pitchFamily="34" charset="0"/>
              </a:rPr>
              <a:t>Nöllmann</a:t>
            </a:r>
            <a:endParaRPr lang="en-US" sz="1300" i="1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6006B6C-0DB4-4EDA-AF2E-6C638CB262DC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49099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C0DD32B-A2C2-41F7-9E36-A3FB59054420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C · QUÉ HICIMOS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511E32-7518-4347-977C-0E5994AC1EA1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Qué hace la placa: potencia, protección y control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678E18E-C60C-463E-96C7-DF722924BDD6}"/>
              </a:ext>
            </a:extLst>
          </p:cNvPr>
          <p:cNvSpPr/>
          <p:nvPr/>
        </p:nvSpPr>
        <p:spPr>
          <a:xfrm>
            <a:off x="609600" y="165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Batería 12 V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155A1E4-F5C0-4E8B-A1B4-8CF032128092}"/>
              </a:ext>
            </a:extLst>
          </p:cNvPr>
          <p:cNvCxnSpPr/>
          <p:nvPr/>
        </p:nvCxnSpPr>
        <p:spPr>
          <a:xfrm>
            <a:off x="1943100" y="2044700"/>
            <a:ext cx="1905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1CBB9A-5203-442C-9D74-D3FE106A9C65}"/>
              </a:ext>
            </a:extLst>
          </p:cNvPr>
          <p:cNvSpPr/>
          <p:nvPr/>
        </p:nvSpPr>
        <p:spPr>
          <a:xfrm>
            <a:off x="2159000" y="165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Protección de polaridad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B59A04-F235-467A-9C23-CA4EE5CE3FCD}"/>
              </a:ext>
            </a:extLst>
          </p:cNvPr>
          <p:cNvCxnSpPr/>
          <p:nvPr/>
        </p:nvCxnSpPr>
        <p:spPr>
          <a:xfrm>
            <a:off x="3492500" y="2044700"/>
            <a:ext cx="1905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ADB80B1-5D22-49B2-B838-3FF1369F4352}"/>
              </a:ext>
            </a:extLst>
          </p:cNvPr>
          <p:cNvSpPr/>
          <p:nvPr/>
        </p:nvSpPr>
        <p:spPr>
          <a:xfrm>
            <a:off x="3708400" y="165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 w="15875">
            <a:solidFill>
              <a:srgbClr val="C43C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C43C3C"/>
                </a:solidFill>
                <a:latin typeface="Calibri" panose="020F0502020204030204" pitchFamily="34" charset="0"/>
              </a:rPr>
              <a:t>Relé + seta</a:t>
            </a:r>
          </a:p>
          <a:p>
            <a:pPr algn="ctr"/>
            <a:r>
              <a:rPr lang="en-US" sz="1300" b="1">
                <a:solidFill>
                  <a:srgbClr val="C43C3C"/>
                </a:solidFill>
                <a:latin typeface="Calibri" panose="020F0502020204030204" pitchFamily="34" charset="0"/>
              </a:rPr>
              <a:t>E-Stop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6F581C7-18C2-44CC-A848-1211806159DE}"/>
              </a:ext>
            </a:extLst>
          </p:cNvPr>
          <p:cNvCxnSpPr/>
          <p:nvPr/>
        </p:nvCxnSpPr>
        <p:spPr>
          <a:xfrm>
            <a:off x="5041900" y="2044700"/>
            <a:ext cx="1905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2246ED5-FE6F-497F-965F-9BB1FC53E317}"/>
              </a:ext>
            </a:extLst>
          </p:cNvPr>
          <p:cNvSpPr/>
          <p:nvPr/>
        </p:nvSpPr>
        <p:spPr>
          <a:xfrm>
            <a:off x="5257800" y="165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Sensor de corriente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5C4C866-5DC5-40FD-8ACF-5D78560117E1}"/>
              </a:ext>
            </a:extLst>
          </p:cNvPr>
          <p:cNvCxnSpPr/>
          <p:nvPr/>
        </p:nvCxnSpPr>
        <p:spPr>
          <a:xfrm>
            <a:off x="6591300" y="2044700"/>
            <a:ext cx="1905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AE9677A-663B-41A3-BE13-A0ACC76FDFD0}"/>
              </a:ext>
            </a:extLst>
          </p:cNvPr>
          <p:cNvSpPr/>
          <p:nvPr/>
        </p:nvSpPr>
        <p:spPr>
          <a:xfrm>
            <a:off x="6807200" y="165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4 drivers</a:t>
            </a:r>
          </a:p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4 motores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D76D48A-5BBE-44FA-85F1-3908C151BF40}"/>
              </a:ext>
            </a:extLst>
          </p:cNvPr>
          <p:cNvCxnSpPr/>
          <p:nvPr/>
        </p:nvCxnSpPr>
        <p:spPr>
          <a:xfrm>
            <a:off x="3594100" y="2044700"/>
            <a:ext cx="0" cy="85090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43BDBF0-4C33-463F-BD8D-720479E8795F}"/>
              </a:ext>
            </a:extLst>
          </p:cNvPr>
          <p:cNvSpPr/>
          <p:nvPr/>
        </p:nvSpPr>
        <p:spPr>
          <a:xfrm>
            <a:off x="2933700" y="292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300" b="1">
                <a:solidFill>
                  <a:srgbClr val="17212F"/>
                </a:solidFill>
                <a:latin typeface="Calibri" panose="020F0502020204030204" pitchFamily="34" charset="0"/>
              </a:rPr>
              <a:t>Regulador LM2596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ED670CD-1596-491A-9469-D36BEF245E34}"/>
              </a:ext>
            </a:extLst>
          </p:cNvPr>
          <p:cNvCxnSpPr/>
          <p:nvPr/>
        </p:nvCxnSpPr>
        <p:spPr>
          <a:xfrm>
            <a:off x="4267200" y="3314700"/>
            <a:ext cx="25146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1F7ED2-E4E3-4448-B2CE-EDAA5F916613}"/>
              </a:ext>
            </a:extLst>
          </p:cNvPr>
          <p:cNvSpPr txBox="1"/>
          <p:nvPr/>
        </p:nvSpPr>
        <p:spPr>
          <a:xfrm>
            <a:off x="5080000" y="3086099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7,2 V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7C93786-57BF-4295-A9A3-AF316A1BADA4}"/>
              </a:ext>
            </a:extLst>
          </p:cNvPr>
          <p:cNvSpPr/>
          <p:nvPr/>
        </p:nvSpPr>
        <p:spPr>
          <a:xfrm>
            <a:off x="6807200" y="2921000"/>
            <a:ext cx="1320800" cy="787400"/>
          </a:xfrm>
          <a:prstGeom prst="roundRect">
            <a:avLst>
              <a:gd name="adj" fmla="val 12000"/>
            </a:avLst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ESP32</a:t>
            </a:r>
          </a:p>
          <a:p>
            <a:pPr algn="ctr"/>
            <a:r>
              <a:rPr lang="en-US" sz="1100">
                <a:solidFill>
                  <a:srgbClr val="FFFFFF"/>
                </a:solidFill>
                <a:latin typeface="Calibri" panose="020F0502020204030204" pitchFamily="34" charset="0"/>
              </a:rPr>
              <a:t>encoders, corriente, IMU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EE1EEC4-C905-451A-BCDF-C377D2F7C3FA}"/>
              </a:ext>
            </a:extLst>
          </p:cNvPr>
          <p:cNvCxnSpPr/>
          <p:nvPr/>
        </p:nvCxnSpPr>
        <p:spPr>
          <a:xfrm>
            <a:off x="3594100" y="3721100"/>
            <a:ext cx="0" cy="673100"/>
          </a:xfrm>
          <a:prstGeom prst="line">
            <a:avLst/>
          </a:prstGeom>
          <a:ln w="22225">
            <a:solidFill>
              <a:srgbClr val="1721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9E7E206-114C-4F1E-B908-806F2F09DB82}"/>
              </a:ext>
            </a:extLst>
          </p:cNvPr>
          <p:cNvCxnSpPr/>
          <p:nvPr/>
        </p:nvCxnSpPr>
        <p:spPr>
          <a:xfrm>
            <a:off x="3594100" y="4394200"/>
            <a:ext cx="3187700" cy="0"/>
          </a:xfrm>
          <a:prstGeom prst="line">
            <a:avLst/>
          </a:prstGeom>
          <a:ln w="22225">
            <a:solidFill>
              <a:srgbClr val="17212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3617B87-8852-492D-BF15-3FD643B2A98F}"/>
              </a:ext>
            </a:extLst>
          </p:cNvPr>
          <p:cNvSpPr/>
          <p:nvPr/>
        </p:nvSpPr>
        <p:spPr>
          <a:xfrm>
            <a:off x="6807200" y="4089400"/>
            <a:ext cx="1320800" cy="6096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17212F"/>
                </a:solidFill>
                <a:latin typeface="Calibri" panose="020F0502020204030204" pitchFamily="34" charset="0"/>
              </a:rPr>
              <a:t>4 servos de dirección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63109310-9CD6-421B-83B4-85E7D4C68622}"/>
              </a:ext>
            </a:extLst>
          </p:cNvPr>
          <p:cNvCxnSpPr/>
          <p:nvPr/>
        </p:nvCxnSpPr>
        <p:spPr>
          <a:xfrm flipV="1">
            <a:off x="7467600" y="2463800"/>
            <a:ext cx="0" cy="444500"/>
          </a:xfrm>
          <a:prstGeom prst="line">
            <a:avLst/>
          </a:prstGeom>
          <a:ln w="22225">
            <a:solidFill>
              <a:srgbClr val="1F5FBF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E921C46-263C-4BFE-BC0C-046F44FF46A0}"/>
              </a:ext>
            </a:extLst>
          </p:cNvPr>
          <p:cNvCxnSpPr/>
          <p:nvPr/>
        </p:nvCxnSpPr>
        <p:spPr>
          <a:xfrm>
            <a:off x="7467600" y="3721100"/>
            <a:ext cx="0" cy="342900"/>
          </a:xfrm>
          <a:prstGeom prst="line">
            <a:avLst/>
          </a:prstGeom>
          <a:ln w="22225">
            <a:solidFill>
              <a:srgbClr val="1F5FBF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2ADD80B-F55C-4E18-9086-CF16BC13FF09}"/>
              </a:ext>
            </a:extLst>
          </p:cNvPr>
          <p:cNvSpPr txBox="1"/>
          <p:nvPr/>
        </p:nvSpPr>
        <p:spPr>
          <a:xfrm>
            <a:off x="7543800" y="25781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1F5FBF"/>
                </a:solidFill>
                <a:latin typeface="Calibri" panose="020F0502020204030204" pitchFamily="34" charset="0"/>
              </a:rPr>
              <a:t>PWM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66BA808-C81E-4BD9-B050-C86242672B3D}"/>
              </a:ext>
            </a:extLst>
          </p:cNvPr>
          <p:cNvCxnSpPr/>
          <p:nvPr/>
        </p:nvCxnSpPr>
        <p:spPr>
          <a:xfrm>
            <a:off x="609600" y="5054600"/>
            <a:ext cx="381000" cy="0"/>
          </a:xfrm>
          <a:prstGeom prst="line">
            <a:avLst/>
          </a:prstGeom>
          <a:ln w="22225">
            <a:solidFill>
              <a:srgbClr val="1721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E2577E6-C956-4C65-B518-8AC6FF171F60}"/>
              </a:ext>
            </a:extLst>
          </p:cNvPr>
          <p:cNvSpPr txBox="1"/>
          <p:nvPr/>
        </p:nvSpPr>
        <p:spPr>
          <a:xfrm>
            <a:off x="1066800" y="4952999"/>
            <a:ext cx="1016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potencia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772E843-7D5F-495A-8CA0-AD17B4E9C83A}"/>
              </a:ext>
            </a:extLst>
          </p:cNvPr>
          <p:cNvCxnSpPr/>
          <p:nvPr/>
        </p:nvCxnSpPr>
        <p:spPr>
          <a:xfrm>
            <a:off x="2032000" y="5054600"/>
            <a:ext cx="381000" cy="0"/>
          </a:xfrm>
          <a:prstGeom prst="line">
            <a:avLst/>
          </a:prstGeom>
          <a:ln w="22225">
            <a:solidFill>
              <a:srgbClr val="1F5FB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E15FD62-000D-4269-BD3A-DECCD94DDEC6}"/>
              </a:ext>
            </a:extLst>
          </p:cNvPr>
          <p:cNvSpPr txBox="1"/>
          <p:nvPr/>
        </p:nvSpPr>
        <p:spPr>
          <a:xfrm>
            <a:off x="2489200" y="4952999"/>
            <a:ext cx="1016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control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959A30B-3101-440C-BDE1-9973F86A7EF8}"/>
              </a:ext>
            </a:extLst>
          </p:cNvPr>
          <p:cNvSpPr/>
          <p:nvPr/>
        </p:nvSpPr>
        <p:spPr>
          <a:xfrm>
            <a:off x="609600" y="5384800"/>
            <a:ext cx="7518400" cy="939800"/>
          </a:xfrm>
          <a:prstGeom prst="roundRect">
            <a:avLst>
              <a:gd name="adj" fmla="val 12000"/>
            </a:avLst>
          </a:prstGeom>
          <a:solidFill>
            <a:srgbClr val="E4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4BF2A32-34DF-40E0-AC5E-01768F8F7E52}"/>
              </a:ext>
            </a:extLst>
          </p:cNvPr>
          <p:cNvSpPr txBox="1"/>
          <p:nvPr/>
        </p:nvSpPr>
        <p:spPr>
          <a:xfrm>
            <a:off x="863600" y="5537199"/>
            <a:ext cx="701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La seta corta solo la tracción.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561021-6393-4129-AB6A-7BB0F8CE1C69}"/>
              </a:ext>
            </a:extLst>
          </p:cNvPr>
          <p:cNvSpPr txBox="1"/>
          <p:nvPr/>
        </p:nvSpPr>
        <p:spPr>
          <a:xfrm>
            <a:off x="863600" y="5867399"/>
            <a:ext cx="701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5A6B80"/>
                </a:solidFill>
                <a:latin typeface="Calibri" panose="020F0502020204030204" pitchFamily="34" charset="0"/>
              </a:rPr>
              <a:t>El ESP32 y los servos siguen alimentados: la telemetría sobrevive al corte.</a:t>
            </a:r>
            <a:endParaRPr lang="en-US" sz="130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DDB02555-D787-4EBB-A5E7-709C4E0C4D1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3021" r="3000" b="27021"/>
          <a:stretch>
            <a:fillRect/>
          </a:stretch>
        </p:blipFill>
        <p:spPr>
          <a:xfrm>
            <a:off x="8534400" y="1651000"/>
            <a:ext cx="3048000" cy="3111500"/>
          </a:xfrm>
          <a:prstGeom prst="roundRect">
            <a:avLst>
              <a:gd name="adj" fmla="val 5000"/>
            </a:avLst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C06A087D-3F21-4353-8D1E-CEF544E0A0F4}"/>
              </a:ext>
            </a:extLst>
          </p:cNvPr>
          <p:cNvSpPr txBox="1"/>
          <p:nvPr/>
        </p:nvSpPr>
        <p:spPr>
          <a:xfrm>
            <a:off x="8534400" y="4876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00" i="1">
                <a:solidFill>
                  <a:srgbClr val="5A6B80"/>
                </a:solidFill>
                <a:latin typeface="Calibri" panose="020F0502020204030204" pitchFamily="34" charset="0"/>
              </a:rPr>
              <a:t>Lado componentes: relé, regulador, ESP32 y conectores con traba.</a:t>
            </a:r>
            <a:endParaRPr lang="en-US" sz="1100" i="1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94D6815-2C66-43A3-881A-5689557E2ED1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348181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C429C8C-DA8D-415C-85D9-54049F05F310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C · QUÉ HICIMOS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2706DC-C455-4985-AD32-9CE768A3C202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La placa responde; ahora hay que medirla a fondo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39010A-B6AF-45EB-AB4E-9C03A1BCAA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" t="18031" r="6000" b="33031"/>
          <a:stretch>
            <a:fillRect/>
          </a:stretch>
        </p:blipFill>
        <p:spPr>
          <a:xfrm>
            <a:off x="609600" y="1549400"/>
            <a:ext cx="3683000" cy="3683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94E3FE87-C335-44BF-BDF0-2A9C97E678A7}"/>
              </a:ext>
            </a:extLst>
          </p:cNvPr>
          <p:cNvSpPr/>
          <p:nvPr/>
        </p:nvSpPr>
        <p:spPr>
          <a:xfrm>
            <a:off x="609600" y="5461000"/>
            <a:ext cx="152400" cy="152400"/>
          </a:xfrm>
          <a:prstGeom prst="ellipse">
            <a:avLst/>
          </a:prstGeom>
          <a:solidFill>
            <a:srgbClr val="2EA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73DA06-2010-4C6A-B05B-B3C2C14893A4}"/>
              </a:ext>
            </a:extLst>
          </p:cNvPr>
          <p:cNvSpPr txBox="1"/>
          <p:nvPr/>
        </p:nvSpPr>
        <p:spPr>
          <a:xfrm>
            <a:off x="838200" y="5422899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validado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E0C5F4-768C-45BA-A3C0-3B8A5CD2BA99}"/>
              </a:ext>
            </a:extLst>
          </p:cNvPr>
          <p:cNvSpPr/>
          <p:nvPr/>
        </p:nvSpPr>
        <p:spPr>
          <a:xfrm>
            <a:off x="1676400" y="5461000"/>
            <a:ext cx="152400" cy="152400"/>
          </a:xfrm>
          <a:prstGeom prst="ellipse">
            <a:avLst/>
          </a:prstGeom>
          <a:solidFill>
            <a:srgbClr val="E8A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7C80B93-7001-4638-BAE6-56D3187F4464}"/>
              </a:ext>
            </a:extLst>
          </p:cNvPr>
          <p:cNvSpPr txBox="1"/>
          <p:nvPr/>
        </p:nvSpPr>
        <p:spPr>
          <a:xfrm>
            <a:off x="1905000" y="5422899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montado, sin ensayar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D4C199F-6129-46EC-BEC2-0A8760576371}"/>
              </a:ext>
            </a:extLst>
          </p:cNvPr>
          <p:cNvSpPr/>
          <p:nvPr/>
        </p:nvSpPr>
        <p:spPr>
          <a:xfrm>
            <a:off x="3327400" y="5461000"/>
            <a:ext cx="152400" cy="152400"/>
          </a:xfrm>
          <a:prstGeom prst="ellipse">
            <a:avLst/>
          </a:prstGeom>
          <a:solidFill>
            <a:srgbClr val="B8C2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A45784-1484-424A-A19C-009691B9552D}"/>
              </a:ext>
            </a:extLst>
          </p:cNvPr>
          <p:cNvSpPr txBox="1"/>
          <p:nvPr/>
        </p:nvSpPr>
        <p:spPr>
          <a:xfrm>
            <a:off x="3556000" y="5422899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5A6B80"/>
                </a:solidFill>
                <a:latin typeface="Calibri" panose="020F0502020204030204" pitchFamily="34" charset="0"/>
              </a:rPr>
              <a:t>a medir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1C3636D-4C49-4203-914C-29B19D8EEEE3}"/>
              </a:ext>
            </a:extLst>
          </p:cNvPr>
          <p:cNvSpPr/>
          <p:nvPr/>
        </p:nvSpPr>
        <p:spPr>
          <a:xfrm>
            <a:off x="4724400" y="1625600"/>
            <a:ext cx="203200" cy="203200"/>
          </a:xfrm>
          <a:prstGeom prst="ellipse">
            <a:avLst/>
          </a:prstGeom>
          <a:solidFill>
            <a:srgbClr val="2EA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28A24F-98DF-470A-9AD9-64BE24E8D77E}"/>
              </a:ext>
            </a:extLst>
          </p:cNvPr>
          <p:cNvSpPr txBox="1"/>
          <p:nvPr/>
        </p:nvSpPr>
        <p:spPr>
          <a:xfrm>
            <a:off x="5080000" y="15748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12F"/>
                </a:solidFill>
                <a:latin typeface="Calibri" panose="020F0502020204030204" pitchFamily="34" charset="0"/>
              </a:rPr>
              <a:t>Fabricada y soldada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B54F030-B1B0-4509-857E-838E8B0E315F}"/>
              </a:ext>
            </a:extLst>
          </p:cNvPr>
          <p:cNvSpPr/>
          <p:nvPr/>
        </p:nvSpPr>
        <p:spPr>
          <a:xfrm>
            <a:off x="4724400" y="2235200"/>
            <a:ext cx="203200" cy="203200"/>
          </a:xfrm>
          <a:prstGeom prst="ellipse">
            <a:avLst/>
          </a:prstGeom>
          <a:solidFill>
            <a:srgbClr val="2EA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E345723-27AD-4996-A925-1A1362D56F8C}"/>
              </a:ext>
            </a:extLst>
          </p:cNvPr>
          <p:cNvSpPr txBox="1"/>
          <p:nvPr/>
        </p:nvSpPr>
        <p:spPr>
          <a:xfrm>
            <a:off x="5080000" y="21844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7212F"/>
                </a:solidFill>
                <a:latin typeface="Calibri" panose="020F0502020204030204" pitchFamily="34" charset="0"/>
              </a:rPr>
              <a:t>Encoders: un canal validado, faltan tres</a:t>
            </a:r>
            <a:endParaRPr lang="en-US" sz="15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760AD45-0B28-436F-84A3-30D1FE832284}"/>
              </a:ext>
            </a:extLst>
          </p:cNvPr>
          <p:cNvSpPr/>
          <p:nvPr/>
        </p:nvSpPr>
        <p:spPr>
          <a:xfrm>
            <a:off x="4724400" y="2844800"/>
            <a:ext cx="203200" cy="203200"/>
          </a:xfrm>
          <a:prstGeom prst="ellipse">
            <a:avLst/>
          </a:prstGeom>
          <a:solidFill>
            <a:srgbClr val="2EA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8102BA-24EE-4902-8E32-1753853604C1}"/>
              </a:ext>
            </a:extLst>
          </p:cNvPr>
          <p:cNvSpPr txBox="1"/>
          <p:nvPr/>
        </p:nvSpPr>
        <p:spPr>
          <a:xfrm>
            <a:off x="5080000" y="27940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7212F"/>
                </a:solidFill>
                <a:latin typeface="Calibri" panose="020F0502020204030204" pitchFamily="34" charset="0"/>
              </a:rPr>
              <a:t>Drivers: un puente H de cada unidad validado</a:t>
            </a:r>
            <a:endParaRPr lang="en-US" sz="15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97F0B90-8D45-43E2-98AF-6A1DEB3EA986}"/>
              </a:ext>
            </a:extLst>
          </p:cNvPr>
          <p:cNvSpPr/>
          <p:nvPr/>
        </p:nvSpPr>
        <p:spPr>
          <a:xfrm>
            <a:off x="4724400" y="3454400"/>
            <a:ext cx="203200" cy="203200"/>
          </a:xfrm>
          <a:prstGeom prst="ellipse">
            <a:avLst/>
          </a:prstGeom>
          <a:solidFill>
            <a:srgbClr val="E8A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6C683C6-9193-46D5-8321-74DC197FABAA}"/>
              </a:ext>
            </a:extLst>
          </p:cNvPr>
          <p:cNvSpPr txBox="1"/>
          <p:nvPr/>
        </p:nvSpPr>
        <p:spPr>
          <a:xfrm>
            <a:off x="5080000" y="34036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12F"/>
                </a:solidFill>
                <a:latin typeface="Calibri" panose="020F0502020204030204" pitchFamily="34" charset="0"/>
              </a:rPr>
              <a:t>Sensor de corriente montado; falta calibrarlo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A1C4037-9D63-4B3C-8C16-1CD9904866AF}"/>
              </a:ext>
            </a:extLst>
          </p:cNvPr>
          <p:cNvSpPr/>
          <p:nvPr/>
        </p:nvSpPr>
        <p:spPr>
          <a:xfrm>
            <a:off x="4724400" y="4064000"/>
            <a:ext cx="203200" cy="203200"/>
          </a:xfrm>
          <a:prstGeom prst="ellipse">
            <a:avLst/>
          </a:prstGeom>
          <a:solidFill>
            <a:srgbClr val="E8A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3A56059-6389-418E-BF7C-763C801AE2B5}"/>
              </a:ext>
            </a:extLst>
          </p:cNvPr>
          <p:cNvSpPr txBox="1"/>
          <p:nvPr/>
        </p:nvSpPr>
        <p:spPr>
          <a:xfrm>
            <a:off x="5080000" y="40132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7212F"/>
                </a:solidFill>
                <a:latin typeface="Calibri" panose="020F0502020204030204" pitchFamily="34" charset="0"/>
              </a:rPr>
              <a:t>Dirección y servos, sin ensayar</a:t>
            </a:r>
            <a:endParaRPr lang="en-US" sz="15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C576E44-30C7-4290-976A-4EA07FD4C395}"/>
              </a:ext>
            </a:extLst>
          </p:cNvPr>
          <p:cNvSpPr/>
          <p:nvPr/>
        </p:nvSpPr>
        <p:spPr>
          <a:xfrm>
            <a:off x="4724400" y="4673600"/>
            <a:ext cx="203200" cy="203200"/>
          </a:xfrm>
          <a:prstGeom prst="ellipse">
            <a:avLst/>
          </a:prstGeom>
          <a:solidFill>
            <a:srgbClr val="B8C2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A2DDBB-FD8B-44A4-93AC-3EE870BEA8E0}"/>
              </a:ext>
            </a:extLst>
          </p:cNvPr>
          <p:cNvSpPr txBox="1"/>
          <p:nvPr/>
        </p:nvSpPr>
        <p:spPr>
          <a:xfrm>
            <a:off x="5080000" y="4622800"/>
            <a:ext cx="6502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7212F"/>
                </a:solidFill>
                <a:latin typeface="Calibri" panose="020F0502020204030204" pitchFamily="34" charset="0"/>
              </a:rPr>
              <a:t>12 hipótesis de escritorio (V1 a V12) a medir: no son defectos, son preguntas</a:t>
            </a:r>
            <a:endParaRPr lang="en-US" sz="15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E5252CB-8CD9-4022-82E1-2446CA327147}"/>
              </a:ext>
            </a:extLst>
          </p:cNvPr>
          <p:cNvSpPr/>
          <p:nvPr/>
        </p:nvSpPr>
        <p:spPr>
          <a:xfrm>
            <a:off x="4724400" y="538480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63801F7-F080-4836-9810-03325FF8B9C3}"/>
              </a:ext>
            </a:extLst>
          </p:cNvPr>
          <p:cNvSpPr txBox="1"/>
          <p:nvPr/>
        </p:nvSpPr>
        <p:spPr>
          <a:xfrm>
            <a:off x="4978400" y="5537199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b="1">
                <a:solidFill>
                  <a:srgbClr val="17212F"/>
                </a:solidFill>
                <a:latin typeface="Calibri" panose="020F0502020204030204" pitchFamily="34" charset="0"/>
              </a:rPr>
              <a:t>Prioridad: V1, V2 y V3.</a:t>
            </a:r>
            <a:endParaRPr lang="en-US" sz="16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9C6A392-2F0E-4555-8883-F137C39AFC7E}"/>
              </a:ext>
            </a:extLst>
          </p:cNvPr>
          <p:cNvSpPr txBox="1"/>
          <p:nvPr/>
        </p:nvSpPr>
        <p:spPr>
          <a:xfrm>
            <a:off x="4978400" y="5867399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dirty="0">
                <a:solidFill>
                  <a:srgbClr val="5A6B80"/>
                </a:solidFill>
                <a:latin typeface="Calibri" panose="020F0502020204030204" pitchFamily="34" charset="0"/>
              </a:rPr>
              <a:t>Leerlas, están en el repo que les voy a pasar</a:t>
            </a:r>
            <a:endParaRPr lang="en-US" sz="13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D894C0D-9CD3-4292-9CF6-A37E380A1EBA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341292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E76A70-71E8-476B-9B1C-84C1AA598698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D · QUÉ QUEDA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9FA752-0527-45F4-9304-030C2BEC3A2E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7212F"/>
                </a:solidFill>
                <a:latin typeface="Arial" panose="020B0604020202020204" pitchFamily="34" charset="0"/>
              </a:rPr>
              <a:t>Lo que viene: medir, ensayar y elegir el motor</a:t>
            </a:r>
            <a:endParaRPr lang="en-US" sz="3000" b="1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B6B77DB-16CF-4796-8CE0-FFD30BE37CCD}"/>
              </a:ext>
            </a:extLst>
          </p:cNvPr>
          <p:cNvGrpSpPr/>
          <p:nvPr/>
        </p:nvGrpSpPr>
        <p:grpSpPr>
          <a:xfrm>
            <a:off x="609600" y="1523999"/>
            <a:ext cx="10718800" cy="4343400"/>
            <a:chOff x="1874520" y="1529080"/>
            <a:chExt cx="7239000" cy="43434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40BF8AAC-464D-4DC1-B8AB-3C4D583BBFAF}"/>
                </a:ext>
              </a:extLst>
            </p:cNvPr>
            <p:cNvSpPr/>
            <p:nvPr/>
          </p:nvSpPr>
          <p:spPr>
            <a:xfrm>
              <a:off x="1874520" y="1529080"/>
              <a:ext cx="3505200" cy="4267200"/>
            </a:xfrm>
            <a:prstGeom prst="roundRect">
              <a:avLst>
                <a:gd name="adj" fmla="val 5000"/>
              </a:avLst>
            </a:prstGeom>
            <a:solidFill>
              <a:srgbClr val="EEF3F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68E691E-3D52-4615-9886-F638A5FC03EE}"/>
                </a:ext>
              </a:extLst>
            </p:cNvPr>
            <p:cNvSpPr/>
            <p:nvPr/>
          </p:nvSpPr>
          <p:spPr>
            <a:xfrm>
              <a:off x="2128520" y="1757680"/>
              <a:ext cx="1143000" cy="279400"/>
            </a:xfrm>
            <a:prstGeom prst="roundRect">
              <a:avLst>
                <a:gd name="adj" fmla="val 50000"/>
              </a:avLst>
            </a:prstGeom>
            <a:solidFill>
              <a:srgbClr val="1F5FB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  <a:latin typeface="Arial" panose="020B0604020202020204" pitchFamily="34" charset="0"/>
                </a:rPr>
                <a:t>PRÓXIMO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11A1899-A665-4C17-AB6C-9E1550E8E4A2}"/>
                </a:ext>
              </a:extLst>
            </p:cNvPr>
            <p:cNvSpPr txBox="1"/>
            <p:nvPr/>
          </p:nvSpPr>
          <p:spPr>
            <a:xfrm>
              <a:off x="2128520" y="2189480"/>
              <a:ext cx="29972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400" b="1" dirty="0" err="1">
                  <a:solidFill>
                    <a:srgbClr val="17212F"/>
                  </a:solidFill>
                  <a:latin typeface="Arial" panose="020B0604020202020204" pitchFamily="34" charset="0"/>
                </a:rPr>
                <a:t>Testeo</a:t>
              </a:r>
              <a:r>
                <a:rPr lang="en-US" sz="2400" b="1" dirty="0">
                  <a:solidFill>
                    <a:srgbClr val="17212F"/>
                  </a:solidFill>
                  <a:latin typeface="Arial" panose="020B0604020202020204" pitchFamily="34" charset="0"/>
                </a:rPr>
                <a:t> y </a:t>
              </a:r>
              <a:r>
                <a:rPr lang="en-US" sz="2400" b="1" dirty="0" err="1">
                  <a:solidFill>
                    <a:srgbClr val="17212F"/>
                  </a:solidFill>
                  <a:latin typeface="Arial" panose="020B0604020202020204" pitchFamily="34" charset="0"/>
                </a:rPr>
                <a:t>ensayos</a:t>
              </a:r>
              <a:endParaRPr lang="en-US" sz="2000" b="1" dirty="0">
                <a:solidFill>
                  <a:srgbClr val="17212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FD268046-BE0B-4FD8-88F4-F44F006360BC}"/>
                </a:ext>
              </a:extLst>
            </p:cNvPr>
            <p:cNvSpPr txBox="1"/>
            <p:nvPr/>
          </p:nvSpPr>
          <p:spPr>
            <a:xfrm>
              <a:off x="2128519" y="2824480"/>
              <a:ext cx="2997200" cy="304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177800" indent="-177800">
                <a:spcAft>
                  <a:spcPts val="800"/>
                </a:spcAft>
                <a:buClr>
                  <a:srgbClr val="1F5FBF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Terminar de testear PCB.</a:t>
              </a:r>
            </a:p>
            <a:p>
              <a:pPr marL="177800" indent="-177800">
                <a:spcAft>
                  <a:spcPts val="800"/>
                </a:spcAft>
                <a:buClr>
                  <a:srgbClr val="1F5FBF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Preparar cables y conectores.</a:t>
              </a:r>
            </a:p>
            <a:p>
              <a:pPr marL="177800" indent="-177800">
                <a:spcAft>
                  <a:spcPts val="800"/>
                </a:spcAft>
                <a:buClr>
                  <a:srgbClr val="1F5FBF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Montar electrónica.</a:t>
              </a:r>
            </a:p>
            <a:p>
              <a:pPr marL="177800" indent="-177800">
                <a:spcAft>
                  <a:spcPts val="800"/>
                </a:spcAft>
                <a:buClr>
                  <a:srgbClr val="1F5FBF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Ensayos de tracción A,B,C,D.</a:t>
              </a: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422874BC-52D5-4023-8479-587F5086EE7F}"/>
                </a:ext>
              </a:extLst>
            </p:cNvPr>
            <p:cNvSpPr/>
            <p:nvPr/>
          </p:nvSpPr>
          <p:spPr>
            <a:xfrm>
              <a:off x="5608320" y="1529080"/>
              <a:ext cx="3505200" cy="4267200"/>
            </a:xfrm>
            <a:prstGeom prst="roundRect">
              <a:avLst>
                <a:gd name="adj" fmla="val 5000"/>
              </a:avLst>
            </a:prstGeom>
            <a:solidFill>
              <a:srgbClr val="F1F3F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6FDEB2C1-5C27-4F88-878C-EDCA3661FB25}"/>
                </a:ext>
              </a:extLst>
            </p:cNvPr>
            <p:cNvSpPr/>
            <p:nvPr/>
          </p:nvSpPr>
          <p:spPr>
            <a:xfrm>
              <a:off x="5862320" y="1757680"/>
              <a:ext cx="1143000" cy="279400"/>
            </a:xfrm>
            <a:prstGeom prst="roundRect">
              <a:avLst>
                <a:gd name="adj" fmla="val 50000"/>
              </a:avLst>
            </a:prstGeom>
            <a:solidFill>
              <a:srgbClr val="0B1F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100" b="1">
                  <a:solidFill>
                    <a:srgbClr val="FFFFFF"/>
                  </a:solidFill>
                  <a:latin typeface="Arial" panose="020B0604020202020204" pitchFamily="34" charset="0"/>
                </a:rPr>
                <a:t>DESPUÉS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6339E157-A485-47FD-A315-35B468B15615}"/>
                </a:ext>
              </a:extLst>
            </p:cNvPr>
            <p:cNvSpPr txBox="1"/>
            <p:nvPr/>
          </p:nvSpPr>
          <p:spPr>
            <a:xfrm>
              <a:off x="5862320" y="2189480"/>
              <a:ext cx="29972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400" b="1" dirty="0">
                  <a:solidFill>
                    <a:srgbClr val="17212F"/>
                  </a:solidFill>
                  <a:latin typeface="Arial" panose="020B0604020202020204" pitchFamily="34" charset="0"/>
                </a:rPr>
                <a:t>Rover final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F7EA31D5-E3D4-4055-A51C-7308BD03E059}"/>
                </a:ext>
              </a:extLst>
            </p:cNvPr>
            <p:cNvSpPr txBox="1"/>
            <p:nvPr/>
          </p:nvSpPr>
          <p:spPr>
            <a:xfrm>
              <a:off x="5862320" y="2824480"/>
              <a:ext cx="2997200" cy="304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177800" indent="-177800">
                <a:spcAft>
                  <a:spcPts val="800"/>
                </a:spcAft>
                <a:buClr>
                  <a:srgbClr val="0B1F3A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Elegir el motor de tracción.</a:t>
              </a:r>
            </a:p>
            <a:p>
              <a:pPr marL="177800" indent="-177800">
                <a:spcAft>
                  <a:spcPts val="800"/>
                </a:spcAft>
                <a:buClr>
                  <a:srgbClr val="0B1F3A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Investigar tratamiento del ruido.</a:t>
              </a:r>
            </a:p>
            <a:p>
              <a:pPr marL="177800" indent="-177800">
                <a:spcAft>
                  <a:spcPts val="800"/>
                </a:spcAft>
                <a:buClr>
                  <a:srgbClr val="0B1F3A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Presupuesto de corriente de todo el </a:t>
              </a:r>
              <a:r>
                <a:rPr lang="es-ES" dirty="0" err="1">
                  <a:solidFill>
                    <a:srgbClr val="17212F"/>
                  </a:solidFill>
                  <a:latin typeface="Calibri" panose="020F0502020204030204" pitchFamily="34" charset="0"/>
                </a:rPr>
                <a:t>rover</a:t>
              </a:r>
              <a:endParaRPr lang="es-ES" dirty="0">
                <a:solidFill>
                  <a:srgbClr val="17212F"/>
                </a:solidFill>
                <a:latin typeface="Calibri" panose="020F0502020204030204" pitchFamily="34" charset="0"/>
              </a:endParaRPr>
            </a:p>
            <a:p>
              <a:pPr marL="177800" indent="-177800">
                <a:spcAft>
                  <a:spcPts val="800"/>
                </a:spcAft>
                <a:buClr>
                  <a:srgbClr val="0B1F3A"/>
                </a:buClr>
                <a:buFont typeface="+mj-lt"/>
                <a:buChar char="•"/>
              </a:pP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Batería, PDB y cableado del </a:t>
              </a:r>
              <a:r>
                <a:rPr lang="es-ES" dirty="0" err="1">
                  <a:solidFill>
                    <a:srgbClr val="17212F"/>
                  </a:solidFill>
                  <a:latin typeface="Calibri" panose="020F0502020204030204" pitchFamily="34" charset="0"/>
                </a:rPr>
                <a:t>rover</a:t>
              </a:r>
              <a:r>
                <a:rPr lang="es-ES" dirty="0">
                  <a:solidFill>
                    <a:srgbClr val="17212F"/>
                  </a:solidFill>
                  <a:latin typeface="Calibri" panose="020F0502020204030204" pitchFamily="34" charset="0"/>
                </a:rPr>
                <a:t> final</a:t>
              </a:r>
              <a:endParaRPr lang="en-US" dirty="0">
                <a:solidFill>
                  <a:srgbClr val="17212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65CB8F-2733-4009-872A-3B533D91077E}"/>
              </a:ext>
            </a:extLst>
          </p:cNvPr>
          <p:cNvSpPr txBox="1"/>
          <p:nvPr/>
        </p:nvSpPr>
        <p:spPr>
          <a:xfrm>
            <a:off x="609600" y="5943599"/>
            <a:ext cx="990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400" i="1" dirty="0">
                <a:solidFill>
                  <a:srgbClr val="5A6B80"/>
                </a:solidFill>
                <a:latin typeface="Calibri" panose="020F0502020204030204" pitchFamily="34" charset="0"/>
              </a:rPr>
              <a:t>Algunas cosas las esperamos de Locomoción y Chasis; mientras tanto avanzamos con todo lo que no depende de ellos.</a:t>
            </a:r>
            <a:endParaRPr lang="en-US" sz="1400" i="1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A9F218-D333-4A77-89B9-1717A9D725AA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95433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9B9838-4CE7-4BA6-AD66-415209D7E2A0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E · CÓMO TRABAJAMOS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5B427F9-62A2-48D3-B100-325262664833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Cómo trabajamos: una reunión fija</a:t>
            </a:r>
            <a:endParaRPr lang="en-US" sz="3000" b="1" dirty="0">
              <a:solidFill>
                <a:srgbClr val="17212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CEACFB0-08AB-4CF8-8431-A3EF0817B16D}"/>
              </a:ext>
            </a:extLst>
          </p:cNvPr>
          <p:cNvSpPr/>
          <p:nvPr/>
        </p:nvSpPr>
        <p:spPr>
          <a:xfrm>
            <a:off x="609600" y="1498600"/>
            <a:ext cx="5334000" cy="1397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DD67DAC-BE78-4ABF-A680-01D2506FB37B}"/>
              </a:ext>
            </a:extLst>
          </p:cNvPr>
          <p:cNvSpPr/>
          <p:nvPr/>
        </p:nvSpPr>
        <p:spPr>
          <a:xfrm>
            <a:off x="863600" y="17526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56B37F-5855-4816-8028-CA2A8D5A7302}"/>
              </a:ext>
            </a:extLst>
          </p:cNvPr>
          <p:cNvSpPr txBox="1"/>
          <p:nvPr/>
        </p:nvSpPr>
        <p:spPr>
          <a:xfrm>
            <a:off x="1447800" y="1777999"/>
            <a:ext cx="424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Reunión virtual semanal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4C0252-C233-4982-BD01-E628FDAB9FC0}"/>
              </a:ext>
            </a:extLst>
          </p:cNvPr>
          <p:cNvSpPr txBox="1"/>
          <p:nvPr/>
        </p:nvSpPr>
        <p:spPr>
          <a:xfrm>
            <a:off x="1447800" y="2133600"/>
            <a:ext cx="4241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Día fijo, lo definimos entre todos. Se muestran avances y se reparten tareas.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2AB526F-92F4-4EB8-9688-51136BAC09DC}"/>
              </a:ext>
            </a:extLst>
          </p:cNvPr>
          <p:cNvSpPr/>
          <p:nvPr/>
        </p:nvSpPr>
        <p:spPr>
          <a:xfrm>
            <a:off x="6248400" y="1498600"/>
            <a:ext cx="5334000" cy="1397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CE9EE6A-1300-4D4F-8444-A2B9663BB95D}"/>
              </a:ext>
            </a:extLst>
          </p:cNvPr>
          <p:cNvSpPr/>
          <p:nvPr/>
        </p:nvSpPr>
        <p:spPr>
          <a:xfrm>
            <a:off x="6502400" y="17526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A294831-9C65-46DC-A55F-60F7DF4BEEBF}"/>
              </a:ext>
            </a:extLst>
          </p:cNvPr>
          <p:cNvSpPr txBox="1"/>
          <p:nvPr/>
        </p:nvSpPr>
        <p:spPr>
          <a:xfrm>
            <a:off x="7086600" y="1777999"/>
            <a:ext cx="424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Encuentros en la facultad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3D53AD-E737-4F70-9843-62B86148A9FA}"/>
              </a:ext>
            </a:extLst>
          </p:cNvPr>
          <p:cNvSpPr txBox="1"/>
          <p:nvPr/>
        </p:nvSpPr>
        <p:spPr>
          <a:xfrm>
            <a:off x="7086600" y="2133599"/>
            <a:ext cx="4241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Para armar y ensayar, cuando el trabajo lo pide.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43DE602-6537-4245-AD62-734EAC55A867}"/>
              </a:ext>
            </a:extLst>
          </p:cNvPr>
          <p:cNvSpPr/>
          <p:nvPr/>
        </p:nvSpPr>
        <p:spPr>
          <a:xfrm>
            <a:off x="609600" y="3073400"/>
            <a:ext cx="5334000" cy="1397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F9949C0-3E97-4242-92B9-53E30DCD3697}"/>
              </a:ext>
            </a:extLst>
          </p:cNvPr>
          <p:cNvSpPr/>
          <p:nvPr/>
        </p:nvSpPr>
        <p:spPr>
          <a:xfrm>
            <a:off x="863600" y="33274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AC6CAA-4AF3-438B-8989-D91DFE225164}"/>
              </a:ext>
            </a:extLst>
          </p:cNvPr>
          <p:cNvSpPr txBox="1"/>
          <p:nvPr/>
        </p:nvSpPr>
        <p:spPr>
          <a:xfrm>
            <a:off x="1447800" y="3352799"/>
            <a:ext cx="424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Primero la cursada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F341F0-845E-443F-BA46-195981839FCB}"/>
              </a:ext>
            </a:extLst>
          </p:cNvPr>
          <p:cNvSpPr txBox="1"/>
          <p:nvPr/>
        </p:nvSpPr>
        <p:spPr>
          <a:xfrm>
            <a:off x="1447800" y="3708400"/>
            <a:ext cx="4241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Parciales y materias al día. Si no </a:t>
            </a:r>
            <a:r>
              <a:rPr lang="es-E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llegás</a:t>
            </a:r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 con algo, </a:t>
            </a:r>
            <a:r>
              <a:rPr lang="es-E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avisá</a:t>
            </a:r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 temprano y se reasigna.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EE94A76-E2A2-4574-9A3B-BB9E0C5DE468}"/>
              </a:ext>
            </a:extLst>
          </p:cNvPr>
          <p:cNvSpPr/>
          <p:nvPr/>
        </p:nvSpPr>
        <p:spPr>
          <a:xfrm>
            <a:off x="6248400" y="3073400"/>
            <a:ext cx="5334000" cy="1397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A9815F5-85D7-4939-B60B-F2C72F447AA5}"/>
              </a:ext>
            </a:extLst>
          </p:cNvPr>
          <p:cNvSpPr/>
          <p:nvPr/>
        </p:nvSpPr>
        <p:spPr>
          <a:xfrm>
            <a:off x="6502400" y="332740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0B36FD-C5B3-46DA-BC83-7D82034F6B8A}"/>
              </a:ext>
            </a:extLst>
          </p:cNvPr>
          <p:cNvSpPr txBox="1"/>
          <p:nvPr/>
        </p:nvSpPr>
        <p:spPr>
          <a:xfrm>
            <a:off x="7086600" y="3352799"/>
            <a:ext cx="424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Google Doc del equipo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CA0FBE-AA0C-4C19-B211-0C6C8BC1B3D6}"/>
              </a:ext>
            </a:extLst>
          </p:cNvPr>
          <p:cNvSpPr txBox="1"/>
          <p:nvPr/>
        </p:nvSpPr>
        <p:spPr>
          <a:xfrm>
            <a:off x="7086600" y="3708400"/>
            <a:ext cx="4241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Vamos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tirando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ideas,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avances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e info por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ahí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, para usar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como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apoyo</a:t>
            </a:r>
            <a:r>
              <a:rPr lang="en-US" sz="1600" dirty="0">
                <a:solidFill>
                  <a:srgbClr val="5A6B80"/>
                </a:solidFill>
                <a:latin typeface="Calibri" panose="020F0502020204030204" pitchFamily="34" charset="0"/>
              </a:rPr>
              <a:t> para las reunions </a:t>
            </a:r>
            <a:r>
              <a:rPr lang="en-U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semanales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2C63853-C6C7-430B-9DC3-BBE809072398}"/>
              </a:ext>
            </a:extLst>
          </p:cNvPr>
          <p:cNvSpPr/>
          <p:nvPr/>
        </p:nvSpPr>
        <p:spPr>
          <a:xfrm>
            <a:off x="3581400" y="4777740"/>
            <a:ext cx="5334000" cy="1397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8C12467-030C-4167-B7EC-CC53DBEDCA68}"/>
              </a:ext>
            </a:extLst>
          </p:cNvPr>
          <p:cNvSpPr/>
          <p:nvPr/>
        </p:nvSpPr>
        <p:spPr>
          <a:xfrm>
            <a:off x="3835400" y="5031740"/>
            <a:ext cx="381000" cy="381000"/>
          </a:xfrm>
          <a:prstGeom prst="ellipse">
            <a:avLst/>
          </a:prstGeom>
          <a:solidFill>
            <a:srgbClr val="1F5F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53C41D8-B020-4D25-AEB6-2F93810A0CB2}"/>
              </a:ext>
            </a:extLst>
          </p:cNvPr>
          <p:cNvSpPr txBox="1"/>
          <p:nvPr/>
        </p:nvSpPr>
        <p:spPr>
          <a:xfrm>
            <a:off x="4419600" y="5057139"/>
            <a:ext cx="424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7212F"/>
                </a:solidFill>
                <a:latin typeface="Calibri" panose="020F0502020204030204" pitchFamily="34" charset="0"/>
              </a:rPr>
              <a:t>Repo de documentación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F796C4A-401D-4804-9424-5DECD14BCA4D}"/>
              </a:ext>
            </a:extLst>
          </p:cNvPr>
          <p:cNvSpPr txBox="1"/>
          <p:nvPr/>
        </p:nvSpPr>
        <p:spPr>
          <a:xfrm>
            <a:off x="4419600" y="5412740"/>
            <a:ext cx="4241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Decisiones, datos y </a:t>
            </a:r>
            <a:r>
              <a:rPr lang="es-ES" sz="1600" dirty="0" err="1">
                <a:solidFill>
                  <a:srgbClr val="5A6B80"/>
                </a:solidFill>
                <a:latin typeface="Calibri" panose="020F0502020204030204" pitchFamily="34" charset="0"/>
              </a:rPr>
              <a:t>pinout</a:t>
            </a:r>
            <a:r>
              <a:rPr lang="es-ES" sz="1600" dirty="0">
                <a:solidFill>
                  <a:srgbClr val="5A6B80"/>
                </a:solidFill>
                <a:latin typeface="Calibri" panose="020F0502020204030204" pitchFamily="34" charset="0"/>
              </a:rPr>
              <a:t>. Se empieza por el contexto maestro.</a:t>
            </a:r>
            <a:endParaRPr lang="en-US" sz="1600" dirty="0">
              <a:solidFill>
                <a:srgbClr val="5A6B8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2BC144D-29CB-4114-9965-6B9838958532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3733996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E9F1D3-9C18-4E23-8B87-A1B1C4B8B30E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E · CÓMO TRABAJAMOS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280914-4E4E-4B92-80DB-16753304D09F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AR" sz="3000" b="1" dirty="0">
                <a:solidFill>
                  <a:srgbClr val="17212F"/>
                </a:solidFill>
                <a:latin typeface="Arial" panose="020B0604020202020204" pitchFamily="34" charset="0"/>
              </a:rPr>
              <a:t>¿Cómo</a:t>
            </a:r>
            <a:r>
              <a:rPr lang="en-U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 </a:t>
            </a:r>
            <a:r>
              <a:rPr lang="es-AR" sz="3000" b="1" dirty="0">
                <a:solidFill>
                  <a:srgbClr val="17212F"/>
                </a:solidFill>
                <a:latin typeface="Arial" panose="020B0604020202020204" pitchFamily="34" charset="0"/>
              </a:rPr>
              <a:t>seguimos</a:t>
            </a:r>
            <a:r>
              <a:rPr lang="en-US" sz="3000" b="1" dirty="0">
                <a:solidFill>
                  <a:srgbClr val="17212F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EE8F87-0ABF-4903-A6D9-89A64F26FFB3}"/>
              </a:ext>
            </a:extLst>
          </p:cNvPr>
          <p:cNvSpPr/>
          <p:nvPr/>
        </p:nvSpPr>
        <p:spPr>
          <a:xfrm>
            <a:off x="609600" y="1498600"/>
            <a:ext cx="3962400" cy="4318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Paso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04A385-5A1D-4F02-9637-14FAB717DAA7}"/>
              </a:ext>
            </a:extLst>
          </p:cNvPr>
          <p:cNvSpPr/>
          <p:nvPr/>
        </p:nvSpPr>
        <p:spPr>
          <a:xfrm>
            <a:off x="4572000" y="1498600"/>
            <a:ext cx="7010400" cy="4318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Cómo lo hacemos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CC1ABD-7B8A-4CE9-9D2A-AE469378FFBB}"/>
              </a:ext>
            </a:extLst>
          </p:cNvPr>
          <p:cNvSpPr/>
          <p:nvPr/>
        </p:nvSpPr>
        <p:spPr>
          <a:xfrm>
            <a:off x="609600" y="1930400"/>
            <a:ext cx="3962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n-US" sz="1400" b="1">
                <a:solidFill>
                  <a:srgbClr val="17212F"/>
                </a:solidFill>
                <a:latin typeface="Calibri" panose="020F0502020204030204" pitchFamily="34" charset="0"/>
              </a:rPr>
              <a:t>Ensayo de ángulo de deslizamiento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CB0812-ADD7-4900-94C8-E44DEB92D8DE}"/>
              </a:ext>
            </a:extLst>
          </p:cNvPr>
          <p:cNvSpPr/>
          <p:nvPr/>
        </p:nvSpPr>
        <p:spPr>
          <a:xfrm>
            <a:off x="4572000" y="1930400"/>
            <a:ext cx="7010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Inclinamos una rampa hasta que el modelo desliza: nos da el μ real y el ángulo para los ensayos de tracción.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B99679-562B-4466-AA08-A2915B09FB3D}"/>
              </a:ext>
            </a:extLst>
          </p:cNvPr>
          <p:cNvSpPr/>
          <p:nvPr/>
        </p:nvSpPr>
        <p:spPr>
          <a:xfrm>
            <a:off x="609600" y="2616200"/>
            <a:ext cx="3962400" cy="685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400" b="1">
                <a:solidFill>
                  <a:srgbClr val="17212F"/>
                </a:solidFill>
                <a:latin typeface="Calibri" panose="020F0502020204030204" pitchFamily="34" charset="0"/>
              </a:rPr>
              <a:t>Preparar el modelo</a:t>
            </a:r>
            <a:endParaRPr lang="en-US" sz="14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3ABF75E-8329-4E49-9D8E-386503E58455}"/>
              </a:ext>
            </a:extLst>
          </p:cNvPr>
          <p:cNvSpPr/>
          <p:nvPr/>
        </p:nvSpPr>
        <p:spPr>
          <a:xfrm>
            <a:off x="4572000" y="2616200"/>
            <a:ext cx="7010400" cy="685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n-US" sz="1300">
                <a:solidFill>
                  <a:srgbClr val="17212F"/>
                </a:solidFill>
                <a:latin typeface="Calibri" panose="020F0502020204030204" pitchFamily="34" charset="0"/>
              </a:rPr>
              <a:t>Lo pesamos con todo montado, verificamos V1 y sumamos el ADS1115 y el ACS712 para medir corriente con precisión.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5E8F4C-5864-4B8F-A5C9-085BBAC4C5AA}"/>
              </a:ext>
            </a:extLst>
          </p:cNvPr>
          <p:cNvSpPr/>
          <p:nvPr/>
        </p:nvSpPr>
        <p:spPr>
          <a:xfrm>
            <a:off x="609600" y="3302000"/>
            <a:ext cx="3962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400" b="1">
                <a:solidFill>
                  <a:srgbClr val="17212F"/>
                </a:solidFill>
                <a:latin typeface="Calibri" panose="020F0502020204030204" pitchFamily="34" charset="0"/>
              </a:rPr>
              <a:t>Calibración y Ensayo A</a:t>
            </a:r>
            <a:endParaRPr lang="en-US" sz="14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AEDC14B-EB80-4160-9094-1025DCE3FCDF}"/>
              </a:ext>
            </a:extLst>
          </p:cNvPr>
          <p:cNvSpPr/>
          <p:nvPr/>
        </p:nvSpPr>
        <p:spPr>
          <a:xfrm>
            <a:off x="4572000" y="3302000"/>
            <a:ext cx="7010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Calibramos los sensores contra el multímetro y medimos la constante K de cada motor con un brazo y una balanza.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7DB1798-0D91-46A5-AF9A-5D66DF4D9CAB}"/>
              </a:ext>
            </a:extLst>
          </p:cNvPr>
          <p:cNvSpPr/>
          <p:nvPr/>
        </p:nvSpPr>
        <p:spPr>
          <a:xfrm>
            <a:off x="609600" y="3987800"/>
            <a:ext cx="3962400" cy="685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n-US" sz="1400" b="1">
                <a:solidFill>
                  <a:srgbClr val="17212F"/>
                </a:solidFill>
                <a:latin typeface="Calibri" panose="020F0502020204030204" pitchFamily="34" charset="0"/>
              </a:rPr>
              <a:t>Ensayos A', B y C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BEF8A23-11D9-483E-8304-3376672BC190}"/>
              </a:ext>
            </a:extLst>
          </p:cNvPr>
          <p:cNvSpPr/>
          <p:nvPr/>
        </p:nvSpPr>
        <p:spPr>
          <a:xfrm>
            <a:off x="4572000" y="3987800"/>
            <a:ext cx="7010400" cy="685800"/>
          </a:xfrm>
          <a:prstGeom prst="rect">
            <a:avLst/>
          </a:prstGeom>
          <a:solidFill>
            <a:srgbClr val="EE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Comprobamos que la medición sirve con el motor modulado por PWM, verificamos K por otro camino y validamos los 4 encoders.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B57873D-FBF7-4E55-B312-A9BFCA217AD1}"/>
              </a:ext>
            </a:extLst>
          </p:cNvPr>
          <p:cNvSpPr/>
          <p:nvPr/>
        </p:nvSpPr>
        <p:spPr>
          <a:xfrm>
            <a:off x="609600" y="4673600"/>
            <a:ext cx="3962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400" b="1">
                <a:solidFill>
                  <a:srgbClr val="17212F"/>
                </a:solidFill>
                <a:latin typeface="Calibri" panose="020F0502020204030204" pitchFamily="34" charset="0"/>
              </a:rPr>
              <a:t>Ensayo de método en piso duro</a:t>
            </a:r>
            <a:endParaRPr lang="en-US" sz="1400" b="1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E0DF2DD-A59F-480C-88F7-A16FDE8B7AA5}"/>
              </a:ext>
            </a:extLst>
          </p:cNvPr>
          <p:cNvSpPr/>
          <p:nvPr/>
        </p:nvSpPr>
        <p:spPr>
          <a:xfrm>
            <a:off x="4572000" y="4673600"/>
            <a:ext cx="70104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Tiro en barra y corriente al mismo tiempo, para llegar con el método probado al ensayo definitivo en piso duro y arena.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05DA9E4-5028-416A-9FB8-5F0DB49D7ECD}"/>
              </a:ext>
            </a:extLst>
          </p:cNvPr>
          <p:cNvSpPr/>
          <p:nvPr/>
        </p:nvSpPr>
        <p:spPr>
          <a:xfrm>
            <a:off x="3840480" y="5791200"/>
            <a:ext cx="4124960" cy="508000"/>
          </a:xfrm>
          <a:prstGeom prst="roundRect">
            <a:avLst>
              <a:gd name="adj" fmla="val 20000"/>
            </a:avLst>
          </a:prstGeom>
          <a:solidFill>
            <a:srgbClr val="FFE2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n-US" sz="1600" b="1" dirty="0" err="1">
                <a:solidFill>
                  <a:srgbClr val="17212F"/>
                </a:solidFill>
                <a:latin typeface="Calibri" panose="020F0502020204030204" pitchFamily="34" charset="0"/>
              </a:rPr>
              <a:t>Organizar</a:t>
            </a:r>
            <a:r>
              <a:rPr lang="en-US" sz="1600" b="1" dirty="0">
                <a:solidFill>
                  <a:srgbClr val="17212F"/>
                </a:solidFill>
                <a:latin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17212F"/>
                </a:solidFill>
                <a:latin typeface="Calibri" panose="020F0502020204030204" pitchFamily="34" charset="0"/>
              </a:rPr>
              <a:t>reunión</a:t>
            </a:r>
            <a:r>
              <a:rPr lang="en-US" sz="1600" b="1" dirty="0">
                <a:solidFill>
                  <a:srgbClr val="17212F"/>
                </a:solidFill>
                <a:latin typeface="Calibri" panose="020F0502020204030204" pitchFamily="34" charset="0"/>
              </a:rPr>
              <a:t> presencial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873FA5-09D4-4198-8E96-5C41933B736C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0117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8CDB8E-5639-459D-A800-E3FF3C076600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BA9D1"/>
                </a:solidFill>
                <a:latin typeface="Arial" panose="020B0604020202020204" pitchFamily="34" charset="0"/>
              </a:rPr>
              <a:t>PARA SEGUIR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33AF44-E4B8-43EF-81DB-276AFECD5856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 dirty="0">
                <a:solidFill>
                  <a:srgbClr val="FFFFFF"/>
                </a:solidFill>
                <a:latin typeface="Arial" panose="020B0604020202020204" pitchFamily="34" charset="0"/>
              </a:rPr>
              <a:t>Para revisar antes de la próxima reunión</a:t>
            </a:r>
            <a:endParaRPr lang="en-US" sz="30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ángulo: esquinas redondeadas 3">
            <a:hlinkClick r:id="rId3"/>
            <a:extLst>
              <a:ext uri="{FF2B5EF4-FFF2-40B4-BE49-F238E27FC236}">
                <a16:creationId xmlns:a16="http://schemas.microsoft.com/office/drawing/2014/main" id="{B0814E2F-DCFE-41A3-B932-7954B4957D66}"/>
              </a:ext>
            </a:extLst>
          </p:cNvPr>
          <p:cNvSpPr/>
          <p:nvPr/>
        </p:nvSpPr>
        <p:spPr>
          <a:xfrm>
            <a:off x="609600" y="15494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1630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hlinkClick r:id="rId3"/>
            <a:extLst>
              <a:ext uri="{FF2B5EF4-FFF2-40B4-BE49-F238E27FC236}">
                <a16:creationId xmlns:a16="http://schemas.microsoft.com/office/drawing/2014/main" id="{5216F26D-5229-4479-AF3A-75E4219AF42A}"/>
              </a:ext>
            </a:extLst>
          </p:cNvPr>
          <p:cNvSpPr txBox="1"/>
          <p:nvPr/>
        </p:nvSpPr>
        <p:spPr>
          <a:xfrm>
            <a:off x="863600" y="1777999"/>
            <a:ext cx="2997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nl-NL" sz="1600" b="1">
                <a:solidFill>
                  <a:srgbClr val="FFFFFF"/>
                </a:solidFill>
                <a:latin typeface="Calibri" panose="020F0502020204030204" pitchFamily="34" charset="0"/>
              </a:rPr>
              <a:t>ITU Rover Team · ERC 2024</a:t>
            </a:r>
            <a:endParaRPr lang="en-US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hlinkClick r:id="rId3"/>
            <a:extLst>
              <a:ext uri="{FF2B5EF4-FFF2-40B4-BE49-F238E27FC236}">
                <a16:creationId xmlns:a16="http://schemas.microsoft.com/office/drawing/2014/main" id="{EC33A740-E1CA-4744-B6E7-28E2760642F0}"/>
              </a:ext>
            </a:extLst>
          </p:cNvPr>
          <p:cNvSpPr txBox="1"/>
          <p:nvPr/>
        </p:nvSpPr>
        <p:spPr>
          <a:xfrm>
            <a:off x="863600" y="2133600"/>
            <a:ext cx="299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CADCFC"/>
                </a:solidFill>
                <a:latin typeface="Calibri" panose="020F0502020204030204" pitchFamily="34" charset="0"/>
              </a:rPr>
              <a:t>Video final del equipo turco</a:t>
            </a:r>
            <a:endParaRPr lang="en-US" sz="120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hlinkClick r:id="rId3"/>
            <a:extLst>
              <a:ext uri="{FF2B5EF4-FFF2-40B4-BE49-F238E27FC236}">
                <a16:creationId xmlns:a16="http://schemas.microsoft.com/office/drawing/2014/main" id="{444268B1-33D0-445E-BE76-4900611B939E}"/>
              </a:ext>
            </a:extLst>
          </p:cNvPr>
          <p:cNvSpPr txBox="1"/>
          <p:nvPr/>
        </p:nvSpPr>
        <p:spPr>
          <a:xfrm>
            <a:off x="863600" y="2692399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1BA9D1"/>
                </a:solidFill>
                <a:latin typeface="Calibri" panose="020F0502020204030204" pitchFamily="34" charset="0"/>
              </a:rPr>
              <a:t>youtu.be/Zemdp7xJUic</a:t>
            </a:r>
          </a:p>
        </p:txBody>
      </p:sp>
      <p:sp>
        <p:nvSpPr>
          <p:cNvPr id="8" name="Rectángulo: esquinas redondeadas 7">
            <a:hlinkClick r:id="rId4"/>
            <a:extLst>
              <a:ext uri="{FF2B5EF4-FFF2-40B4-BE49-F238E27FC236}">
                <a16:creationId xmlns:a16="http://schemas.microsoft.com/office/drawing/2014/main" id="{BCA85C2B-5C7A-4219-8A5D-9562ADF55748}"/>
              </a:ext>
            </a:extLst>
          </p:cNvPr>
          <p:cNvSpPr/>
          <p:nvPr/>
        </p:nvSpPr>
        <p:spPr>
          <a:xfrm>
            <a:off x="4343400" y="15494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1630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hlinkClick r:id="rId4"/>
            <a:extLst>
              <a:ext uri="{FF2B5EF4-FFF2-40B4-BE49-F238E27FC236}">
                <a16:creationId xmlns:a16="http://schemas.microsoft.com/office/drawing/2014/main" id="{1EF24D59-5AA1-43BF-B99F-247CE7CB4D64}"/>
              </a:ext>
            </a:extLst>
          </p:cNvPr>
          <p:cNvSpPr txBox="1"/>
          <p:nvPr/>
        </p:nvSpPr>
        <p:spPr>
          <a:xfrm>
            <a:off x="4597400" y="1777999"/>
            <a:ext cx="2997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AGH Space Systems · ERC 2024</a:t>
            </a:r>
          </a:p>
        </p:txBody>
      </p:sp>
      <p:sp>
        <p:nvSpPr>
          <p:cNvPr id="10" name="CuadroTexto 9">
            <a:hlinkClick r:id="rId4"/>
            <a:extLst>
              <a:ext uri="{FF2B5EF4-FFF2-40B4-BE49-F238E27FC236}">
                <a16:creationId xmlns:a16="http://schemas.microsoft.com/office/drawing/2014/main" id="{D8ED1351-D6D0-426D-AED3-C131916C808A}"/>
              </a:ext>
            </a:extLst>
          </p:cNvPr>
          <p:cNvSpPr txBox="1"/>
          <p:nvPr/>
        </p:nvSpPr>
        <p:spPr>
          <a:xfrm>
            <a:off x="4597400" y="2133600"/>
            <a:ext cx="299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CADCFC"/>
                </a:solidFill>
                <a:latin typeface="Calibri" panose="020F0502020204030204" pitchFamily="34" charset="0"/>
              </a:rPr>
              <a:t>El equipo del rover Kalman, en la ERC desde 2018</a:t>
            </a:r>
            <a:endParaRPr lang="en-US" sz="120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hlinkClick r:id="rId4"/>
            <a:extLst>
              <a:ext uri="{FF2B5EF4-FFF2-40B4-BE49-F238E27FC236}">
                <a16:creationId xmlns:a16="http://schemas.microsoft.com/office/drawing/2014/main" id="{C24467E4-1530-4692-AF21-72A72D1EC44A}"/>
              </a:ext>
            </a:extLst>
          </p:cNvPr>
          <p:cNvSpPr txBox="1"/>
          <p:nvPr/>
        </p:nvSpPr>
        <p:spPr>
          <a:xfrm>
            <a:off x="4597400" y="2692399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1BA9D1"/>
                </a:solidFill>
                <a:latin typeface="Calibri" panose="020F0502020204030204" pitchFamily="34" charset="0"/>
              </a:rPr>
              <a:t>youtube.com/watch?v=k-BzloGMawA</a:t>
            </a:r>
          </a:p>
        </p:txBody>
      </p:sp>
      <p:sp>
        <p:nvSpPr>
          <p:cNvPr id="12" name="Rectángulo: esquinas redondeadas 11">
            <a:hlinkClick r:id="rId5"/>
            <a:extLst>
              <a:ext uri="{FF2B5EF4-FFF2-40B4-BE49-F238E27FC236}">
                <a16:creationId xmlns:a16="http://schemas.microsoft.com/office/drawing/2014/main" id="{50B3AD22-B715-45D1-A793-27F8D9E48689}"/>
              </a:ext>
            </a:extLst>
          </p:cNvPr>
          <p:cNvSpPr/>
          <p:nvPr/>
        </p:nvSpPr>
        <p:spPr>
          <a:xfrm>
            <a:off x="8077200" y="15494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1630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hlinkClick r:id="rId5"/>
            <a:extLst>
              <a:ext uri="{FF2B5EF4-FFF2-40B4-BE49-F238E27FC236}">
                <a16:creationId xmlns:a16="http://schemas.microsoft.com/office/drawing/2014/main" id="{21D7E698-513C-43D5-BD2A-306492A10F44}"/>
              </a:ext>
            </a:extLst>
          </p:cNvPr>
          <p:cNvSpPr txBox="1"/>
          <p:nvPr/>
        </p:nvSpPr>
        <p:spPr>
          <a:xfrm>
            <a:off x="8331200" y="1777999"/>
            <a:ext cx="2997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roverchallenge.eu</a:t>
            </a:r>
          </a:p>
        </p:txBody>
      </p:sp>
      <p:sp>
        <p:nvSpPr>
          <p:cNvPr id="14" name="CuadroTexto 13">
            <a:hlinkClick r:id="rId5"/>
            <a:extLst>
              <a:ext uri="{FF2B5EF4-FFF2-40B4-BE49-F238E27FC236}">
                <a16:creationId xmlns:a16="http://schemas.microsoft.com/office/drawing/2014/main" id="{B5E00CEC-2988-459B-933C-A29E588E900E}"/>
              </a:ext>
            </a:extLst>
          </p:cNvPr>
          <p:cNvSpPr txBox="1"/>
          <p:nvPr/>
        </p:nvSpPr>
        <p:spPr>
          <a:xfrm>
            <a:off x="8331200" y="2133600"/>
            <a:ext cx="299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CADCFC"/>
                </a:solidFill>
                <a:latin typeface="Calibri" panose="020F0502020204030204" pitchFamily="34" charset="0"/>
              </a:rPr>
              <a:t>Reglamento, pruebas y equipos de cada edición</a:t>
            </a:r>
            <a:endParaRPr lang="en-US" sz="1200">
              <a:solidFill>
                <a:srgbClr val="CADCFC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hlinkClick r:id="rId5"/>
            <a:extLst>
              <a:ext uri="{FF2B5EF4-FFF2-40B4-BE49-F238E27FC236}">
                <a16:creationId xmlns:a16="http://schemas.microsoft.com/office/drawing/2014/main" id="{8D00E753-C11B-4CB2-9BD8-A3E82E6670EE}"/>
              </a:ext>
            </a:extLst>
          </p:cNvPr>
          <p:cNvSpPr txBox="1"/>
          <p:nvPr/>
        </p:nvSpPr>
        <p:spPr>
          <a:xfrm>
            <a:off x="8331200" y="2692399"/>
            <a:ext cx="2997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1BA9D1"/>
                </a:solidFill>
                <a:latin typeface="Calibri" panose="020F0502020204030204" pitchFamily="34" charset="0"/>
              </a:rPr>
              <a:t>roverchallenge.eu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2AF542F-CC65-4F90-ADA2-C183E6CF18A0}"/>
              </a:ext>
            </a:extLst>
          </p:cNvPr>
          <p:cNvSpPr/>
          <p:nvPr/>
        </p:nvSpPr>
        <p:spPr>
          <a:xfrm>
            <a:off x="609600" y="3327400"/>
            <a:ext cx="10972800" cy="812800"/>
          </a:xfrm>
          <a:prstGeom prst="roundRect">
            <a:avLst>
              <a:gd name="adj" fmla="val 20000"/>
            </a:avLst>
          </a:prstGeom>
          <a:solidFill>
            <a:srgbClr val="1630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DEAEF3-1F7C-44DA-8304-5678B0174DFB}"/>
              </a:ext>
            </a:extLst>
          </p:cNvPr>
          <p:cNvSpPr txBox="1"/>
          <p:nvPr/>
        </p:nvSpPr>
        <p:spPr>
          <a:xfrm>
            <a:off x="914400" y="3581399"/>
            <a:ext cx="10363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</a:rPr>
              <a:t>Repo del </a:t>
            </a:r>
            <a:r>
              <a:rPr lang="en-US" sz="1600" dirty="0" err="1">
                <a:solidFill>
                  <a:srgbClr val="FFFFFF"/>
                </a:solidFill>
                <a:latin typeface="Calibri" panose="020F0502020204030204" pitchFamily="34" charset="0"/>
              </a:rPr>
              <a:t>subsistema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</a:rPr>
              <a:t>: https://github.com/Matyy38/erc-rover-EyP/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2701B2-2001-48F9-9762-0669D3F601D2}"/>
              </a:ext>
            </a:extLst>
          </p:cNvPr>
          <p:cNvSpPr txBox="1"/>
          <p:nvPr/>
        </p:nvSpPr>
        <p:spPr>
          <a:xfrm>
            <a:off x="609600" y="4826000"/>
            <a:ext cx="10972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</a:rPr>
              <a:t>¿Preguntas?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B60321-D306-4ECC-8C35-E86C5CFB28B6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FA3C0"/>
                </a:solidFill>
                <a:latin typeface="Calibri" panose="020F0502020204030204" pitchFamily="34" charset="0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20719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74012EF-EC27-4A29-A8C8-5A11735A983F}"/>
              </a:ext>
            </a:extLst>
          </p:cNvPr>
          <p:cNvSpPr txBox="1"/>
          <p:nvPr/>
        </p:nvSpPr>
        <p:spPr>
          <a:xfrm>
            <a:off x="609600" y="380999"/>
            <a:ext cx="1097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F5FBF"/>
                </a:solidFill>
                <a:latin typeface="Arial" panose="020B0604020202020204" pitchFamily="34" charset="0"/>
              </a:rPr>
              <a:t>ANEXO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A5F7C98-0BF0-4698-92C2-C9B8CABE4642}"/>
              </a:ext>
            </a:extLst>
          </p:cNvPr>
          <p:cNvSpPr txBox="1"/>
          <p:nvPr/>
        </p:nvSpPr>
        <p:spPr>
          <a:xfrm>
            <a:off x="609600" y="634999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12F"/>
                </a:solidFill>
                <a:latin typeface="Arial" panose="020B0604020202020204" pitchFamily="34" charset="0"/>
              </a:rPr>
              <a:t>Glosario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B9A975-15C9-45FD-84E3-F85A74728EA4}"/>
              </a:ext>
            </a:extLst>
          </p:cNvPr>
          <p:cNvSpPr txBox="1"/>
          <p:nvPr/>
        </p:nvSpPr>
        <p:spPr>
          <a:xfrm>
            <a:off x="609600" y="14986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PDB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D7AF87-6452-4CA4-8A88-F4250F22F6F9}"/>
              </a:ext>
            </a:extLst>
          </p:cNvPr>
          <p:cNvSpPr txBox="1"/>
          <p:nvPr/>
        </p:nvSpPr>
        <p:spPr>
          <a:xfrm>
            <a:off x="609600" y="17779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Placa de distribución de potencia. La nuestra además lleva el control (ESP32).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114829-B443-4DB8-AD82-70BC2DB9C4DA}"/>
              </a:ext>
            </a:extLst>
          </p:cNvPr>
          <p:cNvSpPr txBox="1"/>
          <p:nvPr/>
        </p:nvSpPr>
        <p:spPr>
          <a:xfrm>
            <a:off x="609600" y="24384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l-GR" sz="1500" b="1">
                <a:solidFill>
                  <a:srgbClr val="1F5FBF"/>
                </a:solidFill>
                <a:latin typeface="Calibri" panose="020F0502020204030204" pitchFamily="34" charset="0"/>
              </a:rPr>
              <a:t>λ (</a:t>
            </a:r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lambda)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67C7DE-E531-4679-96B2-62156A8712E9}"/>
              </a:ext>
            </a:extLst>
          </p:cNvPr>
          <p:cNvSpPr txBox="1"/>
          <p:nvPr/>
        </p:nvSpPr>
        <p:spPr>
          <a:xfrm>
            <a:off x="609600" y="27177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Factor de escala entre modelo y rover real. Sale de la relación de masas.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7A4325-5819-4F5C-80F0-07ED3A8BA2FF}"/>
              </a:ext>
            </a:extLst>
          </p:cNvPr>
          <p:cNvSpPr txBox="1"/>
          <p:nvPr/>
        </p:nvSpPr>
        <p:spPr>
          <a:xfrm>
            <a:off x="609600" y="33782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l-GR" sz="1500" b="1">
                <a:solidFill>
                  <a:srgbClr val="1F5FBF"/>
                </a:solidFill>
                <a:latin typeface="Calibri" panose="020F0502020204030204" pitchFamily="34" charset="0"/>
              </a:rPr>
              <a:t>μ</a:t>
            </a:r>
            <a:endParaRPr lang="en-US" sz="1500" b="1">
              <a:solidFill>
                <a:srgbClr val="1F5FB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DBC7EF-93CA-4B18-95BF-F4623FE68F31}"/>
              </a:ext>
            </a:extLst>
          </p:cNvPr>
          <p:cNvSpPr txBox="1"/>
          <p:nvPr/>
        </p:nvSpPr>
        <p:spPr>
          <a:xfrm>
            <a:off x="609600" y="36576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Coeficiente de fricción rueda-suelo. No depende de la escala: se mide igual en el modelo.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100C1C-F6DD-4BF8-8C3D-276D47EA18F7}"/>
              </a:ext>
            </a:extLst>
          </p:cNvPr>
          <p:cNvSpPr txBox="1"/>
          <p:nvPr/>
        </p:nvSpPr>
        <p:spPr>
          <a:xfrm>
            <a:off x="609600" y="43180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BTS7960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ECB3EA-738C-40C5-B3FA-0F217AFC191C}"/>
              </a:ext>
            </a:extLst>
          </p:cNvPr>
          <p:cNvSpPr txBox="1"/>
          <p:nvPr/>
        </p:nvSpPr>
        <p:spPr>
          <a:xfrm>
            <a:off x="609600" y="45973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7212F"/>
                </a:solidFill>
                <a:latin typeface="Calibri" panose="020F0502020204030204" pitchFamily="34" charset="0"/>
              </a:rPr>
              <a:t>Módulo puente H de alta corriente. Uno por motor.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3EF3F5-9D5D-40D9-BA2C-99F430961A72}"/>
              </a:ext>
            </a:extLst>
          </p:cNvPr>
          <p:cNvSpPr txBox="1"/>
          <p:nvPr/>
        </p:nvSpPr>
        <p:spPr>
          <a:xfrm>
            <a:off x="609600" y="52578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TMCS1126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FF108E2-9E05-415C-A3B5-FBD51C27EAD1}"/>
              </a:ext>
            </a:extLst>
          </p:cNvPr>
          <p:cNvSpPr txBox="1"/>
          <p:nvPr/>
        </p:nvSpPr>
        <p:spPr>
          <a:xfrm>
            <a:off x="609600" y="55371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Sensor de corriente Hall aislado. Mide toda la rama de tracción.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E07905-AA0A-4F6E-95D0-1ED3C5E8935B}"/>
              </a:ext>
            </a:extLst>
          </p:cNvPr>
          <p:cNvSpPr txBox="1"/>
          <p:nvPr/>
        </p:nvSpPr>
        <p:spPr>
          <a:xfrm>
            <a:off x="6248400" y="14986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Seta (E-Stop)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0EE4A5E-E69A-4DF7-AFF9-9BE47B29D04B}"/>
              </a:ext>
            </a:extLst>
          </p:cNvPr>
          <p:cNvSpPr txBox="1"/>
          <p:nvPr/>
        </p:nvSpPr>
        <p:spPr>
          <a:xfrm>
            <a:off x="6248400" y="17779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Parada de emergencia. Abre el relé y corta la tracción.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053EE2-C685-4F4B-B66F-F557170BB3E2}"/>
              </a:ext>
            </a:extLst>
          </p:cNvPr>
          <p:cNvSpPr txBox="1"/>
          <p:nvPr/>
        </p:nvSpPr>
        <p:spPr>
          <a:xfrm>
            <a:off x="6248400" y="24384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V1 a V12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CF04B9B-6DD5-4A57-AB76-67CAEE7A476C}"/>
              </a:ext>
            </a:extLst>
          </p:cNvPr>
          <p:cNvSpPr txBox="1"/>
          <p:nvPr/>
        </p:nvSpPr>
        <p:spPr>
          <a:xfrm>
            <a:off x="6248400" y="27177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Hipótesis del análisis de escritorio, a confirmar midiendo. No son defectos.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2C33EB2-B7D5-4A1C-9B3A-A3AD6E114301}"/>
              </a:ext>
            </a:extLst>
          </p:cNvPr>
          <p:cNvSpPr txBox="1"/>
          <p:nvPr/>
        </p:nvSpPr>
        <p:spPr>
          <a:xfrm>
            <a:off x="6248400" y="33782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Ensayo 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EEFA23-352B-48D4-AF0D-933FE4630B19}"/>
              </a:ext>
            </a:extLst>
          </p:cNvPr>
          <p:cNvSpPr txBox="1"/>
          <p:nvPr/>
        </p:nvSpPr>
        <p:spPr>
          <a:xfrm>
            <a:off x="6248400" y="36575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Calibración en banco: constante K del motor y sensor de corriente.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339B45F-057F-4466-A346-DF8871E1064B}"/>
              </a:ext>
            </a:extLst>
          </p:cNvPr>
          <p:cNvSpPr txBox="1"/>
          <p:nvPr/>
        </p:nvSpPr>
        <p:spPr>
          <a:xfrm>
            <a:off x="6248400" y="43180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F5FBF"/>
                </a:solidFill>
                <a:latin typeface="Calibri" panose="020F0502020204030204" pitchFamily="34" charset="0"/>
              </a:rPr>
              <a:t>Ensayo 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2A499E-4C08-45ED-8352-B580500FB6CE}"/>
              </a:ext>
            </a:extLst>
          </p:cNvPr>
          <p:cNvSpPr txBox="1"/>
          <p:nvPr/>
        </p:nvSpPr>
        <p:spPr>
          <a:xfrm>
            <a:off x="6248400" y="4597399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Tracción en piso duro y arena: tiro en barra y corriente en simultáneo.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168279-1DE5-4A59-A473-5843C3E48931}"/>
              </a:ext>
            </a:extLst>
          </p:cNvPr>
          <p:cNvSpPr txBox="1"/>
          <p:nvPr/>
        </p:nvSpPr>
        <p:spPr>
          <a:xfrm>
            <a:off x="6248400" y="52578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1F5FBF"/>
                </a:solidFill>
                <a:latin typeface="Calibri" panose="020F0502020204030204" pitchFamily="34" charset="0"/>
              </a:rPr>
              <a:t>Swerve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2FBE8F9-CD52-41DB-87DC-5CBAF293AA68}"/>
              </a:ext>
            </a:extLst>
          </p:cNvPr>
          <p:cNvSpPr txBox="1"/>
          <p:nvPr/>
        </p:nvSpPr>
        <p:spPr>
          <a:xfrm>
            <a:off x="6248400" y="55372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7212F"/>
                </a:solidFill>
                <a:latin typeface="Calibri" panose="020F0502020204030204" pitchFamily="34" charset="0"/>
              </a:rPr>
              <a:t>Dirección en la que cada rueda gira a su propio ángulo para no arrastrar en curva.</a:t>
            </a:r>
            <a:endParaRPr lang="en-US" sz="1300">
              <a:solidFill>
                <a:srgbClr val="17212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6C9258C-96A4-4AA4-A774-C5F81BC51B1A}"/>
              </a:ext>
            </a:extLst>
          </p:cNvPr>
          <p:cNvSpPr txBox="1"/>
          <p:nvPr/>
        </p:nvSpPr>
        <p:spPr>
          <a:xfrm>
            <a:off x="10668000" y="6502400"/>
            <a:ext cx="914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5A6B80"/>
                </a:solidFill>
                <a:latin typeface="Calibri" panose="020F0502020204030204" pitchFamily="34" charset="0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21741979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9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FDF318-B364-446F-99BE-6018E63AE861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64ca8ec2-7484-4221-afd7-b274a93cb3a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2390</Words>
  <Application>Microsoft Office PowerPoint</Application>
  <PresentationFormat>Panorámica</PresentationFormat>
  <Paragraphs>315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Matías Bélico</dc:creator>
  <cp:lastModifiedBy>Matías Bélico</cp:lastModifiedBy>
  <cp:revision>11</cp:revision>
  <dcterms:created xsi:type="dcterms:W3CDTF">2026-09-22T04:16:17Z</dcterms:created>
  <dcterms:modified xsi:type="dcterms:W3CDTF">2026-09-30T12:38:52Z</dcterms:modified>
</cp:coreProperties>
</file>